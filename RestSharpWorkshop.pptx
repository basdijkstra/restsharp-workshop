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  <p:sldMasterId id="2147483696" r:id="rId4"/>
    <p:sldMasterId id="2147483708" r:id="rId5"/>
  </p:sldMasterIdLst>
  <p:notesMasterIdLst>
    <p:notesMasterId r:id="rId69"/>
  </p:notesMasterIdLst>
  <p:sldIdLst>
    <p:sldId id="256" r:id="rId6"/>
    <p:sldId id="295" r:id="rId7"/>
    <p:sldId id="258" r:id="rId8"/>
    <p:sldId id="753" r:id="rId9"/>
    <p:sldId id="888" r:id="rId10"/>
    <p:sldId id="884" r:id="rId11"/>
    <p:sldId id="891" r:id="rId12"/>
    <p:sldId id="892" r:id="rId13"/>
    <p:sldId id="893" r:id="rId14"/>
    <p:sldId id="894" r:id="rId15"/>
    <p:sldId id="933" r:id="rId16"/>
    <p:sldId id="934" r:id="rId17"/>
    <p:sldId id="935" r:id="rId18"/>
    <p:sldId id="895" r:id="rId19"/>
    <p:sldId id="896" r:id="rId20"/>
    <p:sldId id="897" r:id="rId21"/>
    <p:sldId id="898" r:id="rId22"/>
    <p:sldId id="599" r:id="rId23"/>
    <p:sldId id="582" r:id="rId24"/>
    <p:sldId id="583" r:id="rId25"/>
    <p:sldId id="308" r:id="rId26"/>
    <p:sldId id="264" r:id="rId27"/>
    <p:sldId id="265" r:id="rId28"/>
    <p:sldId id="266" r:id="rId29"/>
    <p:sldId id="267" r:id="rId30"/>
    <p:sldId id="268" r:id="rId31"/>
    <p:sldId id="1034" r:id="rId32"/>
    <p:sldId id="1035" r:id="rId33"/>
    <p:sldId id="1049" r:id="rId34"/>
    <p:sldId id="1036" r:id="rId35"/>
    <p:sldId id="1037" r:id="rId36"/>
    <p:sldId id="1044" r:id="rId37"/>
    <p:sldId id="274" r:id="rId38"/>
    <p:sldId id="272" r:id="rId39"/>
    <p:sldId id="277" r:id="rId40"/>
    <p:sldId id="280" r:id="rId41"/>
    <p:sldId id="690" r:id="rId42"/>
    <p:sldId id="691" r:id="rId43"/>
    <p:sldId id="1038" r:id="rId44"/>
    <p:sldId id="281" r:id="rId45"/>
    <p:sldId id="939" r:id="rId46"/>
    <p:sldId id="1039" r:id="rId47"/>
    <p:sldId id="1040" r:id="rId48"/>
    <p:sldId id="1046" r:id="rId49"/>
    <p:sldId id="1047" r:id="rId50"/>
    <p:sldId id="309" r:id="rId51"/>
    <p:sldId id="1048" r:id="rId52"/>
    <p:sldId id="1045" r:id="rId53"/>
    <p:sldId id="310" r:id="rId54"/>
    <p:sldId id="311" r:id="rId55"/>
    <p:sldId id="312" r:id="rId56"/>
    <p:sldId id="1041" r:id="rId57"/>
    <p:sldId id="1013" r:id="rId58"/>
    <p:sldId id="420" r:id="rId59"/>
    <p:sldId id="1014" r:id="rId60"/>
    <p:sldId id="1025" r:id="rId61"/>
    <p:sldId id="1027" r:id="rId62"/>
    <p:sldId id="1031" r:id="rId63"/>
    <p:sldId id="1032" r:id="rId64"/>
    <p:sldId id="1042" r:id="rId65"/>
    <p:sldId id="1043" r:id="rId66"/>
    <p:sldId id="289" r:id="rId67"/>
    <p:sldId id="290" r:id="rId6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D300"/>
    <a:srgbClr val="008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2D5ABB26-0587-4C30-8999-92F81FD0307C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16772E-9742-40CA-8FC7-1D94CE439A5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AE132-DA72-4D49-8FBE-E50B275CD09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8C7E067-87B0-48A7-AF7C-EA8B321B878F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8DEBCAA-4913-4E1E-8CEB-744E65AE2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AC2F3D-EAB6-4F40-8154-447257BEECDC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4C3AD-8E8C-4C38-965C-D968653B0EB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9FF97-3E3C-4A52-A8FD-7A6C2E19DB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973DD44-48FC-416D-BD7D-CDF9A2A62DF8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8676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EF0C8-7AE0-4E03-BD64-4C4AA900C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74811-1E4F-4F43-9DF8-FBF3360FDA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09117-E0A3-4FCA-9478-5360EE3C6D2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DD60034-B153-4244-AFB2-E4435E5BDE9D}" type="slidenum">
              <a:t>1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A3D2C-A7E5-404E-9935-1DDFE9D42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5ECE8-9ED8-4C96-A9F4-7E42F4C6D0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769AF-EDFC-4532-AE1E-A53E036C05B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A53A041-F2DB-4F30-A524-DE3086978843}" type="slidenum">
              <a:t>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FED66-C945-4F02-A5D6-0E54A068D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82AE2-31F1-4C82-B447-22A4EBD2A1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43F59-862F-4315-B5A3-368226B647C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E01C6E9-6533-4DFC-A6D7-C598BBDCBDA6}" type="slidenum">
              <a:t>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817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787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274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123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310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A99CA-F250-4F50-BADF-D35152562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0099F-4346-454A-AED0-43FFC02360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F93A4-C0CC-453D-A36C-F76E0CC483D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D80D5E-092C-42BE-83C4-CE827814DFCE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007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287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828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760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704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295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854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152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744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D7414-8D01-4A84-821C-C473114F3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3C6F5-C1A5-441B-838D-84B229010E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08FFA-A141-4AAC-A143-78EFBA16D5A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5E4AB6F-ED89-4D81-86CF-8782A2BF9BA0}" type="slidenum">
              <a:t>22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B433A-66A2-4F2E-BCBC-B8DEDC051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EA927-EA74-4CBE-8164-76F7D873B5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395ED-396F-4273-B559-FA7C9587146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8EBC009-4D8C-47AE-9480-ABAE7C68217C}" type="slidenum">
              <a:t>23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BCB49-23D1-475C-8351-E3915397C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95E75-CB7F-4E36-8035-FCED861A61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51508-D4B4-474D-8CA0-BEE514440CE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1FDFDAA-7F51-4794-9706-C1B380B1C961}" type="slidenum">
              <a:t>24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CEFCB-DEB9-41C7-867A-704FE4687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D6F79-56B3-4063-86DD-1AA1EB8599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AEC46-A6AD-4533-8506-7E7A7965094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AD050DA-0191-4C07-B211-3EF42803C1BE}" type="slidenum">
              <a:t>25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6676-F74B-4B67-ADF4-E8C2D467D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72BF-7DCA-4A52-A4FB-964503B1DA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6955-9002-4D02-B8F8-8FB2D134B69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100B20-5661-451E-BFF2-0F7A5880D9CF}" type="slidenum">
              <a:t>26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6676-F74B-4B67-ADF4-E8C2D467D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72BF-7DCA-4A52-A4FB-964503B1DA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6955-9002-4D02-B8F8-8FB2D134B69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100B20-5661-451E-BFF2-0F7A5880D9CF}" type="slidenum">
              <a:t>27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0574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6676-F74B-4B67-ADF4-E8C2D467D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72BF-7DCA-4A52-A4FB-964503B1DA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6955-9002-4D02-B8F8-8FB2D134B69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100B20-5661-451E-BFF2-0F7A5880D9CF}" type="slidenum">
              <a:t>28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811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1E60-F341-D754-398F-211438AD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E3FA2-A390-F77D-4FE1-098FD4C4F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B9D4D-4769-3F24-B60E-A6E7FCE423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65E9E-F0BA-14DF-9C74-4EE81D27B13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100B20-5661-451E-BFF2-0F7A5880D9CF}" type="slidenum">
              <a:t>29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91058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6676-F74B-4B67-ADF4-E8C2D467D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72BF-7DCA-4A52-A4FB-964503B1DA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6955-9002-4D02-B8F8-8FB2D134B69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100B20-5661-451E-BFF2-0F7A5880D9CF}" type="slidenum">
              <a:t>30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66082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6676-F74B-4B67-ADF4-E8C2D467D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72BF-7DCA-4A52-A4FB-964503B1DA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6955-9002-4D02-B8F8-8FB2D134B69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100B20-5661-451E-BFF2-0F7A5880D9CF}" type="slidenum">
              <a:t>31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39559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F0A7A-5445-4473-BE0C-88A92B325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9C60B-3DBD-4EEB-ACE5-BBABCCAB63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6F008-9CA4-4676-AD30-3884078B22A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8946A66-8415-4C9D-9AD1-5C5DE7E9D675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32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2576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7BE89-DBF4-422C-BB4C-5655070FB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CDBFD-FA56-47D5-9DB7-099662F2EF8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6585B-C2C8-4095-B6E1-CC4B48FB26D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B5F74E5-456E-4992-A1C9-F0E80F9984E0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t>34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A99CA-F250-4F50-BADF-D35152562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0099F-4346-454A-AED0-43FFC02360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F93A4-C0CC-453D-A36C-F76E0CC483D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D80D5E-092C-42BE-83C4-CE827814DFCE}" type="slidenum">
              <a:t>35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7B305-2EF7-4D56-AD0A-3F125115D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8A669-4B1C-4274-8F0B-85E30B722C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2A42F-EF4B-4843-8F24-18E396D41BB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6F6240-279D-486B-B1B5-EA655A61EF3B}" type="slidenum">
              <a:t>36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981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7919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7883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647D-5C54-4535-A499-41ACBAD23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CCFE2-B237-4FCC-89D0-9DD507ADFC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41DE-9DCB-467C-A170-70DFAF7F6B8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4F8F7-8B99-4F76-A56C-56A83016FCCA}" type="slidenum">
              <a:t>40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647D-5C54-4535-A499-41ACBAD23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CCFE2-B237-4FCC-89D0-9DD507ADFC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41DE-9DCB-467C-A170-70DFAF7F6B8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4F8F7-8B99-4F76-A56C-56A83016FCCA}" type="slidenum">
              <a:t>41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11493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647D-5C54-4535-A499-41ACBAD23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CCFE2-B237-4FCC-89D0-9DD507ADFC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41DE-9DCB-467C-A170-70DFAF7F6B8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4F8F7-8B99-4F76-A56C-56A83016FCCA}" type="slidenum">
              <a:t>42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51861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43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1086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6171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3194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7973DD44-48FC-416D-BD7D-CDF9A2A62DF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570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47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6995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7973DD44-48FC-416D-BD7D-CDF9A2A62DF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943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1192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6525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C0810F-782F-4878-A434-9F1717E7BF55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6165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78784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C0810F-782F-4878-A434-9F1717E7BF55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5179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C0810F-782F-4878-A434-9F1717E7BF55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926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3D3B4-DAA7-4B59-B3C9-532C0D76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AEB68-7C95-4BFA-AB4B-A79F9177BC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E7D13-F520-4CD2-B1DA-237BCA19A95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12737FC-DA53-47D4-9C85-770A2D4150D5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0540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3D3B4-DAA7-4B59-B3C9-532C0D76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AEB68-7C95-4BFA-AB4B-A79F9177BC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E7D13-F520-4CD2-B1DA-237BCA19A95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12737FC-DA53-47D4-9C85-770A2D4150D5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9913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3D3B4-DAA7-4B59-B3C9-532C0D76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AEB68-7C95-4BFA-AB4B-A79F9177BC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E7D13-F520-4CD2-B1DA-237BCA19A95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12737FC-DA53-47D4-9C85-770A2D4150D5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60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5889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61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9217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F07AD-101D-46D2-8A14-13DB25B69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D86D9-D271-4E70-BD26-B4E0BD90C1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64D2-459F-40A2-B5AF-0AFFBCF062D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797C95C-FBDB-4AA5-977F-19F9A2193BE5}" type="slidenum">
              <a:t>62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585B4-8CD5-471A-BFAE-C9EA5041C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42949-2813-4570-A42A-5D07D65188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B3C57-1ABD-4830-91E1-DA27212C0A7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91901F8-18AB-4A4F-A64B-34056565670D}" type="slidenum">
              <a:t>63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7F92-DFC7-4753-BEC1-C55B44F8D3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1A750-0CDA-4BE5-9688-86845D500A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7200A-788E-4824-A312-A2EE84FE59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353120-334F-4ED0-885F-86728C006A2A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6493F-8203-4973-9B72-C0D9EFC024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DB1EC-87FC-48BD-ACCC-EBD22FF4A4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94D102-DE23-4507-929E-7C43BF54003F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03706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7F40-9E64-498A-B7B6-E894BEE1FCE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597EB-3E42-47E9-A74B-0EA44F19762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8B225-E965-4492-ACA6-1C8F10B423C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143B82-DD4F-4088-A624-3503A61074F0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891BC-7625-4573-8D8A-05C3658F11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14FA-85A5-44F2-9E7C-39ACFCAD29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21FDCA-7000-4F25-9F93-2F30BAEAC51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43718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4B3B-7A6C-4144-9EA1-50BB4783E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64CD6-925D-4280-BA31-2DCBA8B6C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3D72-CD4B-4FB8-A4C3-26BC52E3574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507691-7B59-419E-9A18-3770DDAE5591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2C838-5379-4E83-A915-96F078348C6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66CED-F089-4829-8639-64F1A9C442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08542F-2FB6-41E2-8A70-3B59E20BB44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42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8987-C6E8-4281-A236-F405A0EF09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4DD9-CEFA-4ACC-9815-CF990CB34E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439E-DADE-4D69-B4DE-0A31C6725E5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368FF-FC38-4B5F-A80D-42C6FDCBE0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110AB0F-217C-4943-B204-665BD86D8E3B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91859-D823-4FF6-9AD2-4146D7967B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12C88-86B7-408C-B2EF-0CD681693C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9699F4-A15C-48BA-A877-C6593968D16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117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2AC9-05D5-4EC8-BB24-5712DD2DF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8F659-121A-4B9B-A006-C57992DDA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32215-8CE0-4D1E-8311-F5016E86172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71FD6-5A7E-4416-B347-92EA26B6DF0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A4EED-1D90-46BB-BE71-0F6D01D138E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80942-D3F0-4C0C-8BE3-CA86F80DC6C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24B46D-6B49-4CBF-8355-DB4287F4ACE1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3EB7F-FDB2-4428-896C-7162DAE3EA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E3E2AE-9952-4BA6-BF32-DE9E9E7A7F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1C4BB2-94AD-4DB4-A213-208FEFA86CB3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099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95DA-015B-464B-A848-A6B4E217846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E40FF-7D5E-4CEB-ACDE-C8374B3C226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9A2C93-44AC-4F0D-A967-589D486FAADA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07784-D6B8-4A6A-ACFF-B0C32DDDFD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2205D-98AD-42A3-8C04-62269F9C53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BFBAED-05A8-457E-BD65-39E7F4816CD2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057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2E104-84F1-4688-8E9A-9702AFC82B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85F980-1A54-42AF-A7A2-D7E167AF3461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A4CDB-FA60-452F-AC17-80E73E0C00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E21C3-DC79-437B-9AAF-C9EF9AC21B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E00D41-B9EF-4015-8717-80D8B7360AFA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511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D44B-16D9-48AA-85D4-D5860BF3AC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46792-E541-4721-BF3E-018C6EAC785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99D25-7551-473B-B7EB-57A423A8836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F6B9A-47AE-42F1-9F3B-1881A03BE8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44FC49-4617-4375-90AE-574C49864662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F1D70-25D9-49C1-93D0-607C78D89E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FDF24-6F3C-471D-B803-608E17F717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EAC040-BDCC-4320-8837-0C20840DE295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396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DEA9-5806-4E9D-BE02-DC68DFFEF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E1054-EAD7-4B1D-A723-870AEEBB203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nl-NL" sz="3200"/>
            </a:lvl1pPr>
          </a:lstStyle>
          <a:p>
            <a:pPr lvl="0"/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20EB4-E46D-43BF-B48B-8913BB17793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616CF-7867-4065-826B-95CF33A24D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DCDB17-CBC3-4C37-9C62-F91CC0441161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CEB8F-0480-4D89-B970-B897B8D05D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EFC2C-9BA9-43D6-B9C9-901E400153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7AF284-2EBB-406E-9A42-A41DA1AC5EFD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409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7BB2-ACA2-4D5D-95E6-7546856BF0F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9698A-B579-4422-A0F8-82CCB257558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880A0-2734-43BB-80A9-4DE50E0286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D559C5-BBD5-4E05-8119-BA84ECDCBBC9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3C27A-5EA4-458E-A64B-ABF1C8527F7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C6B1F-93E1-4A67-9A30-BB17A561D4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6BD520-9CB0-4BF1-A32E-6B2AEB52404A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1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F1C34-6F05-42E5-9313-03C4B8CD018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148C3-C814-4813-9B81-67DCAE092D4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3B63C-C5E8-43E6-AD4E-76E9E51F120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8C06C7-C130-4EDF-A1BC-8A1ADA3A8C49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85C6A-1B25-4D27-A1BB-46A3F529790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1B7DA-47C4-4201-884A-3DC9E51807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C54DBD-1E8A-4A47-8206-A820E432B3AE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370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11D4-C7F9-446B-B8FB-54F0DA96BE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E182F-5799-47EF-B42B-603F1B4221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48B9D-C146-4A58-B96A-608AE4DFED6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B22AC6-E809-412A-B7FD-325ABF3A6E9F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FA18A-5D7A-4866-B621-36F964E23E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A97D-9DE6-49BB-8852-26B8C99BE1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3687A6-5231-46EA-861E-2992EEABD66B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7270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84E8-E8B7-4018-98B4-AB8DFFCDD5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37A7A-3A78-47F5-BDEB-7017A56FD8B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73EA-B9A5-4677-BFA4-3AC28B1764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98114B-2606-441D-9B0C-C8E4F832DA4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B63A3-C6D1-4926-99CD-72BAD68866C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31B07-5B35-48FA-B878-ED5A041D1E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CC6889-D5D0-480A-AE32-C25CD778FE6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65710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F5FE-A08C-4558-B09E-5821BFA45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0C109-CD27-4969-A1CE-0591749ED1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25DC9-26B6-4357-B5FB-28F7C35878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946972-30D7-4BCD-B945-1BFED9D30B5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888F6-D891-46D5-8C87-831D66A7CD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93CEA-CD24-41B5-B413-F6383FFC26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88AEB0-9C3D-4C0A-9B49-9F994528BCC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0189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99D9-B8B2-47C8-ACC0-798AA28F9EF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9A5D-6D30-41E6-8539-BCE2EDECC4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D2CE5-7B6A-4013-86B7-7E505F3C245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745C9-75E3-4C79-9A65-36A6C12348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A1A2A4-8D16-4856-9D98-1E00C03C68A5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45890-8ABB-45B0-A06E-6601CB82DD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D3682-ACA9-41D1-AA5D-79DC20D98B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D1086B-1C49-4C6D-955B-65FBD8ECCF78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6520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5487-DB76-4D56-953D-8BF7D98A16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7713D-CED1-4477-B46B-474157D22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4F8FD-EBC0-4E4C-A748-B8336021672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5BDBC-3EAE-4815-8465-EFD1F865A17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4482AE-7503-486C-87BC-D02B6BC1AF1A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B1BC8-B3F6-4BA2-8FD5-CC8E1BEBF6D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F7FD0A-3441-4AD1-97F8-A4D453E965C6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593B4-9E67-4AB1-929B-4459AC4FB4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903A6-EA42-4B2C-A177-2AF0D45E45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B98BA3-4D34-4F8E-B04E-C81561813E3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9611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39B0-0B92-4E36-B514-EE4BF7EA839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73254-87AB-4B40-AECE-271E908587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500FEA-CE93-4330-AE25-C1CB1FE0057E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3774E-CED6-4934-83FC-D323ECA8B3E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2A333-A4D4-422B-A6D5-7739657A72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94AA9A-51CF-4EB9-A234-1F4237B25A7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2871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39186-EED5-430A-B37D-CB1BE0A43A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EAF5EB-F2A7-43A7-9549-45FD408C7D0F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11984-7DD5-4A87-8EB5-DB28E889D1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83537-2992-493D-B6BB-5331A4FD33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FD8F48-404C-41BF-A36E-4C1DEC2A04C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155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D4E3-E0AE-422A-8122-015CF12DC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40632-29CE-423D-BFD3-CD10F56228E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9E397-ABED-4539-8984-1B1F3F06C87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201DF-768A-43AC-BB79-5C9CC1270C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0F20F8-4CB9-4625-ABC2-8F643746419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0AC9B-F332-4D84-977C-A46832C0C34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C16B4-D49F-4237-9F7C-B5DE6346AD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B1271D-403B-47BA-90DF-9E3BB0F5471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7191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F17C-6200-4B4A-98F3-B5B1130D3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79FED-57CC-4C60-865D-E0CB2E76ED3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nl-NL" sz="3200"/>
            </a:lvl1pPr>
          </a:lstStyle>
          <a:p>
            <a:pPr lvl="0"/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9280C-D94C-4D0D-80C9-C1B8FF0FFB3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F625F-B748-4402-8A2F-0407A0093C4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8CEE4A-2408-410F-BF05-68AE90595830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980C7-3860-4968-AC2C-818B03194EF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208AF-D86D-4D9B-957F-15C0E8B8DF6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F2A4A3-F893-413A-AF79-81D5C80C8AF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3393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93BD-0FC7-426B-A239-7582944BC7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8323F-E75C-4EFB-BB3B-DCA95C82FFA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FACB4-D428-47FA-BD44-6E43C06FF71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A366E7-BE4A-419E-8E37-D3D581A948E8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AF928-B2E7-4AB6-B931-7F8223325B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AA2D6-3DBA-4003-AC80-35EE171DC5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038B16-1C68-4459-9137-100AAD291828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7611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3C048-CD99-4837-8C0F-18E1963B975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4DC26-C41E-4855-AD34-3F18ABEB9C8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0F35C-3C13-4A63-AFA0-831F2A067D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A7867A-847C-4448-ACCC-33AFE1856F0B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7BDC9-9607-4D85-A499-92AB1B45D2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D7AB1-7D4E-4D2B-ABA2-30CB4E8A85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85B58A-4177-4E4F-BDF6-E9BC465C0D2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291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0ECF-B2C2-4AB3-BDA2-B6422181F86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27E26-14DF-417C-88AB-D4F2524DBA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27FE5-AE93-42EA-8CEB-37A3D14A48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834043-2FDA-4D68-8414-01D8CBA95D6D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89119-DF80-490D-B2A7-B22F8444F5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75B38-E8BF-4FE4-8EE9-26CB8776A10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93A30D4-EC63-43E2-A96A-1AD39FDDD35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6789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D429-80C4-4A9B-B0EB-780FE4A0BA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304B5-7C37-4210-8EC5-599F21BE351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98E46-B477-4AA4-9206-99FE1DB994F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1FCED8-4DBE-418A-8D6A-AF59252D44B3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56E41-A05F-4DE0-966D-EFAC9060E30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743F2-EE47-4350-AE1C-9E52643B33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D3D042-50AB-43C2-B8C9-F8AA5051F31D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464948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CEEE-2D75-4D2B-9C44-AE98DC4EA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41076-41FA-4133-86BF-5BB270E6E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0AAF9-60D6-4830-8CE3-B092E96C11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616604-5EB0-4C28-9DD9-6ADC34229F0C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13248-27FD-4900-9675-E4D9296D306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B1E3-F075-4991-856D-5135CA6E63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A1A113-22CE-46B3-B577-C15510B80F0E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1130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8E9F-43C0-46EC-B2DF-72D3ED01A2E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31B0B-72A9-4D3F-AB82-6CD6C0FA97A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A58D2-ADBE-4AEE-BC93-5A46E5967A6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7B9F1-0B39-4693-97D0-7B58738285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F71F75A-B000-4A31-9296-751EE3556BD3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49FB8-31E2-4AE3-B50C-0AC66CDC1B9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2F783-678C-4976-8117-D74E56BE14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A04B8B-F43E-4EFA-AD25-8B6D1B4CE93F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82226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0E4A-CBB7-4B53-8875-ADCE5A813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E702D-72D5-4B5C-A023-9908EF9C2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5C952-6B94-4039-9D46-2845D26701B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6FDAC-874C-4C2C-992C-ED1E58E1E65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B280D-5F68-4BD1-B10E-E10AF7534D4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684EF-D364-43AE-8CF1-23CCFE93BB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3EF149-2A2F-4C4B-A309-9FEBF52DE125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C2ED2-FCAD-4C5E-806B-4385891C23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D390A-A3DF-41AD-AB37-B1BAD9A1473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D54605-AA2E-415D-B5DE-09AAD61FCFB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2154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58DA-2DE0-46D9-8E18-F5154B3E9BE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3592D-85F4-4921-8DD1-F5AC0FE6EDD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9E3964-DC07-4C1A-9B7E-9858C944F8B5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9C13F-012B-47E1-B7D2-AC9BB0F9427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0539E-ED75-4FB2-B77A-53C60270E4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00D14C-35C2-4CF4-BBED-A5EA77C2EC93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19336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56726-DD12-405D-BCC6-A61E7EF797C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31B46A-6804-4A67-AC3A-3F41B9A42696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EA521-3AC6-4803-B27B-90F0A826974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EA427-2277-41CE-ADFA-7B04EF7F973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8AD22F-0A9F-4344-ADBE-BF77F5D971C2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4790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A80F-D546-4DF3-9883-04223F41C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8251-7CB3-4C05-ACF9-D545FBA31AA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72425-E13F-4B90-B1FA-B241751DE1B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4FAA1-6967-4D32-A804-9E2AC4F31FA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304D5D-294B-4607-A544-A480D2CA2C4C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448A2-E4D2-4B8F-9059-89E2E5859E4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304F3-8DD1-437A-9516-4F6089B836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FC75F0B-82F8-4248-8A91-903E8152584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550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EAD2-5251-4628-8E4F-7C17972A8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8C6DD-1DFE-405B-AA8D-F52E37DEC0AF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nl-NL" sz="3200"/>
            </a:lvl1pPr>
          </a:lstStyle>
          <a:p>
            <a:pPr lvl="0"/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D73CB-A76E-43B8-90B6-541DC8030B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FA2D0-8846-48CE-B448-D7E469D3E76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324F82-75CC-45B5-835B-7F772990C7D2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617AC-5C34-45FE-ADB0-0D9E8115119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CF8BA-FD78-421B-863F-712B725D0D0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CE60F4-8B6C-4578-86E5-F00980D892F9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8985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A350-072D-42EA-A016-048C0F9C5E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C3D8C-12E0-4891-8D8F-39A4B8A74AE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3E99-9CF9-4EEB-8D1A-F68C0B5A14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AAE1CE-3742-4BF0-9C42-C8BC01CFDF24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10155-221A-42E0-8D66-8CD3613FBA9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C0596-E4B7-48A8-8625-844611C46C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4300A2-9CC6-47DE-A0BC-B3094A8E657A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84944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A73331-54BA-4DB7-84B9-214D289C4A9F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A1BBB-1176-45E1-A188-A49865EA90C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474EC-FBFE-47DE-8840-4D65A3706C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5E01DF-2E30-40AA-8701-06A22289FED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07AE2-F886-4203-8F49-7627A2869F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8F6F-AD22-4297-B790-A3A2E51A73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9150C0-389A-476E-B5B2-2E0D03E9D4CE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84978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6439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85488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27711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87786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35850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40078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9482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76946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40165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23520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50222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E4E6-D503-4190-9AF5-7D14C5196E8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7CF4D-5004-4228-90D2-0FF88017F75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03203-96D5-43B9-8F94-C0FCD0E211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468DAA-F404-43B2-B186-58DE34DFEA1C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E5C-4380-44E5-901A-E45EF443331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F1D1-AF77-40F8-8B87-A9A9BF3534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1D1F86-9271-48E4-91FF-C6F01CE9A62D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4120614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743D-5B3D-432F-8505-D23556F2BB7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BB189-F6AD-4D80-876B-D39A09086D1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341F3-3E61-43BA-9815-049729ECC8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4825A7-F003-475C-853D-C0959C37119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68B9E-B617-4E2B-B23C-0C68E803936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AD82C-7D1C-432F-B2E5-13FED2627D4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B85754-C630-4708-A2CC-36FB6D83426D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6391331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CA65-CE8A-4DEC-9B5B-38531984BC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77B39-15D1-431C-9335-6FDE14695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831F4-DDEF-4DF2-ADD8-D432932505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AAC751-F406-4E0F-AE66-886AF305691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C75B2-437B-43E1-9035-EC99DFBB4B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9CD7-C751-4CEF-AB9E-EAB140EBD6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4C15CE-790C-49A2-B29F-5C0AC747982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96604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42C2-35EC-47D5-A99B-9D320AF2200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8E43-8029-4FB9-8499-21C9D8C47FA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B9D3B-D147-4243-BE7A-0EAC13AE5CB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05806-5A7A-4EBF-9BDC-F8F60C01BC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C3EAEA-8D1D-4D60-B6A8-7F79A6DD655A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B4EFF-BB97-4110-863E-921F7DB8686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CBD32-4177-4E49-A7A5-8B92CC4B327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BCD370-C10F-4EE4-84AA-4E5CBD9D6ADE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11677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CAFB-93A8-4614-9131-BF00ADC88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EBDFE-72CB-4DCA-8F82-102B1C318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A77CC-DA2F-4F4F-B044-22FC7C701605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6E769-F70F-4020-BC80-F528591AA26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22020-1E88-4564-9412-9ADA9159AC2D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99FBF-F547-4FE7-9F3E-EF0DCE94F2C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739CE8-0239-498B-B786-7DE5E7F3DF9D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52627D-20C1-49AC-96D9-E55F9EA7B05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BC28A-2060-4DF3-8269-74E95EBF6FC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7A5604-65A1-47E4-8049-4DAFAAE4207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17104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A106-40AC-49AF-8A87-E21D32EF78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44623-9C77-4D4D-BFDA-F83BDE6675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C3F32D-C224-456A-A4A6-A32E3720B9BF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2008E-806E-4A29-9FED-D6B4B42ACB4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40078-C443-4F33-A47A-AEFA1AC025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B4341D-0C78-4A33-AC51-8643BDEED61F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20233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DBA50-DD61-482C-9EAA-D16379DF8B6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A845F1-7064-4D2D-A0AD-40B066CEE2CD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6B063-E110-4226-BD53-C5105F2C17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6333D-6C99-4AD2-9345-2E3DE5466D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34444E-F538-4A11-8593-CC7D1F36ECD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14930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EC63F-CE4F-46D4-B751-94D2C32AFC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6960C-2784-4EF1-8743-6EADDD4E70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931A7-B54A-455C-8B70-F2F80C5C6E8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C20EF-6A96-4160-8B4C-8CA483EFA84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4B9522-BEE5-4244-9948-C40F934A0180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E66F4-001A-48CC-BEDF-22DE396B6F7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2BBC0-C3F3-4DB5-A7C4-432D2BF05E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C5E4FF-94B9-4889-BF69-C75140873FE5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0430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82C5-150B-4E99-8928-9BC1F2A354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E1461-B688-42D3-847B-22C6CC22331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nl-NL" sz="3200"/>
            </a:lvl1pPr>
          </a:lstStyle>
          <a:p>
            <a:pPr lvl="0"/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009E7-F423-4992-BB16-3779164C874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10B0-949B-4726-B228-F017A28CEDD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D87361-95F9-4330-AE57-468E7ED0A231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28EB2-3E15-4E49-82AA-3A0319EEAF5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4690B-55D7-489D-BB2D-87473BD766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7B135A-5EE4-4D46-8E74-A267D739F855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29337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7975-6518-4501-AD17-9BFCD7C58A1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03B7D-9149-4CCD-8960-1699FEE470C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FAD36-1CA0-4BBA-9C05-C2395ACAFE0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2E1CC4-018E-4CE4-AA82-26A3F8C084F0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52CC-88F6-4764-B498-83B5D12BC0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56836-7E99-4E22-ADF1-8E053FD921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B48FA8-61B0-4A6D-B0DE-5A435F62984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20338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C5002-844A-421F-B12C-E6CD08E02AD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9F8ED-9D26-4F49-B4DF-8F076737848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F4CE8-7065-40EE-A6B4-02D5434E323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CD1D060-9570-401E-AF09-121E376B6D65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F446C-A919-43DC-8579-426F3736797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AC359-AB09-4AF7-955B-5D45645A5D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3B649D-7FB2-4EDF-A106-24942687D446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60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EB517-0BCA-4DD5-8911-DBD718997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5ABA-9F3F-4DAF-9359-04B6D7A88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4475B-982A-482B-B538-1D32230C036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322D304-BC79-44C5-8C38-9B2EAFD7A858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2203-C69F-4046-8886-DB37031E488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B2F81-409E-4299-9290-2D3EF3449D2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8FA8D4D2-A462-4411-9A2A-982FE3CC91D2}" type="slidenum"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5D9C-56E8-463D-8F77-E9BF05A37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03256-C5CA-4392-BD45-A270AC433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54F89-17CF-44BF-8FA5-AA43D605E2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7E35A64-8696-430E-BD8D-C66B34156B7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779B0-BE34-47BE-B98E-CA151BC14FF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78423-A6E9-456F-A772-0F81ECBE0DF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C217D96-87A3-462C-8D72-7E13D2BD480A}" type="slidenum"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2A2D7-43B9-460C-897E-DF75C617B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507AD-FDCD-45FA-A599-706A8A14E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AC52F-14DD-442E-9FF8-1B1A36925BB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17D94DDC-74CB-418A-B090-026A60AF3AB9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A852D-0747-42EA-86A8-D8993D65851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1D4B1-B9A4-4EE2-9C4C-D3B4A9A7010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901E53ED-FDFC-443F-8203-5D27E5DED233}" type="slidenum"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786E2-A2AD-407F-A096-CEC047B7C616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16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E4429-5774-4B07-99E5-68092258D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9426A-B3FD-4DFB-A528-7DCC3AA79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98A92-8852-4AE2-A6F3-C1D4A4C57CC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6DB71E64-6C95-4BFE-A60F-E6BE58595777}" type="datetime1">
              <a:rPr lang="nl-NL"/>
              <a:pPr lvl="0"/>
              <a:t>13-2-2026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CA38-EE5F-41A4-A3BF-64EB3CDA8C8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352B1-BEE6-4AF5-8F5A-16BB7A7386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A7D2760-8F4C-4327-B1ED-3813C3DAFCE6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890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166D-CEA8-4CCF-AA4A-9631117ADB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251103"/>
            <a:ext cx="9144000" cy="2387598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API testing in C# with RestSharp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C344A-42EA-41D8-97DB-21ED8F9872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8128" y="2700067"/>
            <a:ext cx="11706221" cy="3900757"/>
          </a:xfrm>
        </p:spPr>
        <p:txBody>
          <a:bodyPr anchorCtr="0"/>
          <a:lstStyle/>
          <a:p>
            <a:pPr lvl="0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 open source workshop by …</a:t>
            </a: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 sz="1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r>
              <a:rPr lang="nl-NL" sz="1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Originally created by Bas Dijkstra – bas@ontestautomation.com – https://www.ontestautomation.com</a:t>
            </a:r>
          </a:p>
          <a:p>
            <a:pPr lvl="0" algn="r"/>
            <a:endParaRPr lang="nl-NL" sz="1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19FE-A384-4E4D-A5C7-43D51FD0A17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What are we going to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83102-461B-4C36-95FD-3967A29F906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RESTful APIs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RestSharp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Hands-on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FC11-92DC-4E02-A03A-95058B5014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 dirty="0" err="1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Preparation</a:t>
            </a: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B02AD-F27B-43AB-BF80-BFD1C80CF1E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Install .NET 6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Install Visual Studio 2022 (or any other IDE)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Import project into your IDE</a:t>
            </a:r>
          </a:p>
          <a:p>
            <a:pPr lvl="1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https://github.com/basdijkstra/restsharp-workshop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" y="2267636"/>
            <a:ext cx="12191998" cy="2369662"/>
          </a:xfrm>
        </p:spPr>
        <p:txBody>
          <a:bodyPr>
            <a:noAutofit/>
          </a:bodyPr>
          <a:lstStyle/>
          <a:p>
            <a:pPr algn="ctr"/>
            <a:r>
              <a:rPr lang="nl-NL" sz="72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(RESTful) APIs are commonly used to exchange data between two parties</a:t>
            </a:r>
            <a:endParaRPr lang="nl-NL" sz="7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1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19B76B41-CC8F-4AB2-AA6B-522F63101910}"/>
              </a:ext>
            </a:extLst>
          </p:cNvPr>
          <p:cNvSpPr/>
          <p:nvPr/>
        </p:nvSpPr>
        <p:spPr>
          <a:xfrm>
            <a:off x="1219949" y="654659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 consumer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8420849" y="654659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 provider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Pijl: rechts 6">
            <a:extLst>
              <a:ext uri="{FF2B5EF4-FFF2-40B4-BE49-F238E27FC236}">
                <a16:creationId xmlns:a16="http://schemas.microsoft.com/office/drawing/2014/main" id="{61E5B8DE-27F1-444C-B282-6DBE3C392313}"/>
              </a:ext>
            </a:extLst>
          </p:cNvPr>
          <p:cNvSpPr/>
          <p:nvPr/>
        </p:nvSpPr>
        <p:spPr>
          <a:xfrm>
            <a:off x="4201274" y="1159483"/>
            <a:ext cx="3838575" cy="333375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Pijl: rechts 7">
            <a:extLst>
              <a:ext uri="{FF2B5EF4-FFF2-40B4-BE49-F238E27FC236}">
                <a16:creationId xmlns:a16="http://schemas.microsoft.com/office/drawing/2014/main" id="{9C68E7DA-15F8-408B-B438-18A5C4EAD20B}"/>
              </a:ext>
            </a:extLst>
          </p:cNvPr>
          <p:cNvSpPr/>
          <p:nvPr/>
        </p:nvSpPr>
        <p:spPr>
          <a:xfrm rot="10800000">
            <a:off x="4186986" y="2159611"/>
            <a:ext cx="3838575" cy="333375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69963B92-FFB0-45F5-972C-72AAB5C4ED2E}"/>
              </a:ext>
            </a:extLst>
          </p:cNvPr>
          <p:cNvSpPr txBox="1"/>
          <p:nvPr/>
        </p:nvSpPr>
        <p:spPr>
          <a:xfrm>
            <a:off x="4340090" y="582541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BD73EEA-8D89-4B72-984D-EDDFFE2AD3A3}"/>
              </a:ext>
            </a:extLst>
          </p:cNvPr>
          <p:cNvSpPr txBox="1"/>
          <p:nvPr/>
        </p:nvSpPr>
        <p:spPr>
          <a:xfrm>
            <a:off x="4364651" y="2492986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02D3961F-1DC0-44CA-B053-7353E24A421C}"/>
              </a:ext>
            </a:extLst>
          </p:cNvPr>
          <p:cNvSpPr/>
          <p:nvPr/>
        </p:nvSpPr>
        <p:spPr>
          <a:xfrm>
            <a:off x="1219949" y="3860192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1F5ABE9D-1358-4D6A-92CE-3833E4EECE7F}"/>
              </a:ext>
            </a:extLst>
          </p:cNvPr>
          <p:cNvSpPr/>
          <p:nvPr/>
        </p:nvSpPr>
        <p:spPr>
          <a:xfrm>
            <a:off x="8420849" y="3860192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Pijl: rechts 12">
            <a:extLst>
              <a:ext uri="{FF2B5EF4-FFF2-40B4-BE49-F238E27FC236}">
                <a16:creationId xmlns:a16="http://schemas.microsoft.com/office/drawing/2014/main" id="{440413C3-A94B-49BF-997C-01B4F418D68D}"/>
              </a:ext>
            </a:extLst>
          </p:cNvPr>
          <p:cNvSpPr/>
          <p:nvPr/>
        </p:nvSpPr>
        <p:spPr>
          <a:xfrm rot="5400000">
            <a:off x="1892936" y="3264611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Pijl: rechts 13">
            <a:extLst>
              <a:ext uri="{FF2B5EF4-FFF2-40B4-BE49-F238E27FC236}">
                <a16:creationId xmlns:a16="http://schemas.microsoft.com/office/drawing/2014/main" id="{29F7FCED-4923-4C47-8D0D-E164AF00FD6C}"/>
              </a:ext>
            </a:extLst>
          </p:cNvPr>
          <p:cNvSpPr/>
          <p:nvPr/>
        </p:nvSpPr>
        <p:spPr>
          <a:xfrm rot="16200000">
            <a:off x="2651511" y="3264610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jl: rechts 14">
            <a:extLst>
              <a:ext uri="{FF2B5EF4-FFF2-40B4-BE49-F238E27FC236}">
                <a16:creationId xmlns:a16="http://schemas.microsoft.com/office/drawing/2014/main" id="{C201604D-A15E-4914-A093-ED3BB4E62DE3}"/>
              </a:ext>
            </a:extLst>
          </p:cNvPr>
          <p:cNvSpPr/>
          <p:nvPr/>
        </p:nvSpPr>
        <p:spPr>
          <a:xfrm rot="5400000">
            <a:off x="9031764" y="3264612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jl: rechts 15">
            <a:extLst>
              <a:ext uri="{FF2B5EF4-FFF2-40B4-BE49-F238E27FC236}">
                <a16:creationId xmlns:a16="http://schemas.microsoft.com/office/drawing/2014/main" id="{A49E548C-4572-40DB-8AD0-FFAAAF4B8DA6}"/>
              </a:ext>
            </a:extLst>
          </p:cNvPr>
          <p:cNvSpPr/>
          <p:nvPr/>
        </p:nvSpPr>
        <p:spPr>
          <a:xfrm rot="16200000">
            <a:off x="9790339" y="3264611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9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50088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 REST API request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219369" y="2612854"/>
            <a:ext cx="3016201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4235570" y="2612854"/>
            <a:ext cx="7263441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219369" y="3631720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219369" y="4650586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39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22498" y="450088"/>
            <a:ext cx="68695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methods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GET, POST, PUT, PATCH, DELETE, OPTIONS, …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CRUD operations on </a:t>
            </a: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Create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Read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 / PATCH	</a:t>
            </a: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Update</a:t>
            </a: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Delete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	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…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Conventions, not standards!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16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22498" y="450088"/>
            <a:ext cx="6869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Resources and parameters</a:t>
            </a:r>
            <a:endParaRPr kumimoji="0" lang="nl-NL" sz="4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Uniform Resource Identifier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Uniquely identifies the resource to operate on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parameters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 parameters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 parameters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06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0D27-91A1-4529-B8AC-39B103A2BD2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4483" y="2063226"/>
            <a:ext cx="10515600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Path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us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90210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ca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B2A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Query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testcaseOne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testcaseTwo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There is no official standard!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5322498" y="450088"/>
            <a:ext cx="6869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Resources and parameters</a:t>
            </a:r>
            <a:endParaRPr kumimoji="0" lang="nl-NL" sz="4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Key-value pairs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metadata about the request body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 (what data format is the request body in?)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Accept (what data format would I like the response body to be in?)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session and authorization data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 tokens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 and password sent with every request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Base64 encoded (not really secure!)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Ex: username = aladdin and password = opensesame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Authorization: Basic YWxhZGRpbjpvcGVuc2VzYW1l</a:t>
            </a:r>
            <a:endParaRPr lang="nl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Authorization: Basic</a:t>
            </a:r>
            <a:endParaRPr kumimoji="0" lang="nl-NL" sz="44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A8630A86-8290-467A-AE7B-91CEDEBDD3CF}"/>
              </a:ext>
            </a:extLst>
          </p:cNvPr>
          <p:cNvSpPr/>
          <p:nvPr/>
        </p:nvSpPr>
        <p:spPr>
          <a:xfrm flipV="1">
            <a:off x="3952875" y="5079618"/>
            <a:ext cx="1400174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CB1C617-FCCE-49D1-989F-48068A419F9E}"/>
              </a:ext>
            </a:extLst>
          </p:cNvPr>
          <p:cNvSpPr/>
          <p:nvPr/>
        </p:nvSpPr>
        <p:spPr>
          <a:xfrm flipV="1">
            <a:off x="5353048" y="5079618"/>
            <a:ext cx="55626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11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 with limited validity is obtained first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 is then sent with all subsequent requests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 common mechanism is OAuth(2)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JWT is a common token format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Authorization: Bearer RsT5OjbzRn430zqMLgV3Ia</a:t>
            </a:r>
            <a:endParaRPr lang="nl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Authorization: Bearer</a:t>
            </a:r>
            <a:endParaRPr kumimoji="0" lang="nl-NL" sz="44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A8630A86-8290-467A-AE7B-91CEDEBDD3CF}"/>
              </a:ext>
            </a:extLst>
          </p:cNvPr>
          <p:cNvSpPr/>
          <p:nvPr/>
        </p:nvSpPr>
        <p:spPr>
          <a:xfrm flipV="1">
            <a:off x="3952873" y="6112688"/>
            <a:ext cx="16383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CB1C617-FCCE-49D1-989F-48068A419F9E}"/>
              </a:ext>
            </a:extLst>
          </p:cNvPr>
          <p:cNvSpPr/>
          <p:nvPr/>
        </p:nvSpPr>
        <p:spPr>
          <a:xfrm flipV="1">
            <a:off x="5445423" y="6112688"/>
            <a:ext cx="55626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83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to be sent to the provider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 does not prescribe a specific data format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 common: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Plain text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 data formats can be sent using REST, too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60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50088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 REST API response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013664" y="2612854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013664" y="3631720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013664" y="4650586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53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3260" y="450088"/>
            <a:ext cx="8318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17231" y="1911766"/>
            <a:ext cx="11143891" cy="4661563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Indicates result of request processing by provider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Five different categories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1XX		Informational	100 Continue</a:t>
            </a: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2XX		Success			200 OK</a:t>
            </a: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3XX		Redirection		301 Moved Permanently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4XX		Client errors	400 Bad Request</a:t>
            </a: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5XX		Server errors	503 Service Unavailable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02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3260" y="450088"/>
            <a:ext cx="8318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Key-value pairs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metadata about the response body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 (what data format is the response body in?)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 (how many bytes in the response body?)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provider-specific data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Caching-related headers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Information about the server type 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18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3260" y="450088"/>
            <a:ext cx="8318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returned by the provider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 does not prescribe a specific data format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 common: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Plain text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 data formats can be sent using REST, too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18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 example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http://ergast.com/api/f1/2018/drivers.json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5621"/>
            <a:ext cx="5000625" cy="3943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397" y="2527017"/>
            <a:ext cx="3813403" cy="393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5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are APIs used?</a:t>
            </a:r>
          </a:p>
        </p:txBody>
      </p:sp>
      <p:pic>
        <p:nvPicPr>
          <p:cNvPr id="1026" name="Picture 2" descr="Afbeeldingsresultaat voor mobile icon green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2924"/>
            <a:ext cx="3511820" cy="409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fbeeldingsresultaat voor internet icon green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090" y="1802923"/>
            <a:ext cx="3511820" cy="409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cdn.mysitemyway.com/etc-mysitemyway/icons/legacy-previews/icons/green-metallic-orbs-icons-business/082491-green-metallic-orb-icon-business-currency-euro1-sc3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910" y="1802922"/>
            <a:ext cx="3511820" cy="409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200" y="5376828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Mobile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0090" y="5376828"/>
            <a:ext cx="3511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Internet of Things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51910" y="5376828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 economy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7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are APIs used?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2810" y="5310759"/>
            <a:ext cx="3511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Web applications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2050" name="Picture 2" descr="Afbeeldingsresultaat voor green metallic orb icon">
            <a:extLst>
              <a:ext uri="{FF2B5EF4-FFF2-40B4-BE49-F238E27FC236}">
                <a16:creationId xmlns:a16="http://schemas.microsoft.com/office/drawing/2014/main" id="{521CB36D-7ADD-4869-8A5B-555B7D1B9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810" y="1690688"/>
            <a:ext cx="3511820" cy="409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fbeeldingsresultaat voor metallic green orb icon">
            <a:extLst>
              <a:ext uri="{FF2B5EF4-FFF2-40B4-BE49-F238E27FC236}">
                <a16:creationId xmlns:a16="http://schemas.microsoft.com/office/drawing/2014/main" id="{2625E130-9841-46D6-84CE-0FC5F185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370" y="1690688"/>
            <a:ext cx="3511820" cy="409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2D78D-8AD9-4443-8249-C91276439BDB}"/>
              </a:ext>
            </a:extLst>
          </p:cNvPr>
          <p:cNvSpPr txBox="1"/>
          <p:nvPr/>
        </p:nvSpPr>
        <p:spPr>
          <a:xfrm>
            <a:off x="6707370" y="5310759"/>
            <a:ext cx="3511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Microservices architectures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E439-E4E3-4A10-B48B-2DDDDCF6DE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930124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Why I ♥ testing at the API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6BC5B-2F5E-4FA0-A955-B300BC8627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994132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Tests run much faster than UI-driven tests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Tests are much more stable than UI-driven tests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Tests have a broader scope than unit tests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Business logic is often exposed at the API level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2919-6A7F-4DD9-A93C-8B30D365838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Tools for testing RESTful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058DE-2A74-467D-A883-872913DD28A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6"/>
            <a:ext cx="11058522" cy="5032373"/>
          </a:xfrm>
        </p:spPr>
        <p:txBody>
          <a:bodyPr>
            <a:normAutofit fontScale="92500" lnSpcReduction="10000"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Free / open source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Postman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SoapUI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Code libraries like REST Assured, RestSharp, requests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…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Commercial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Parasoft SOAtest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SoapUI Pro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…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Build your own (using HTTP libraries for your language of choice)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35F6-3736-4745-ACB1-9E362ABEE3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RestSharp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4495-3B4F-44AD-978E-CBCDD299C92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C# library for writing tests for RESTful APIs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Removes the need for a lot of boilerplate code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Works with all common unit testing frameworks</a:t>
            </a:r>
          </a:p>
          <a:p>
            <a:pPr lvl="1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NUnit, MSTest, xUnit</a:t>
            </a:r>
          </a:p>
          <a:p>
            <a:pPr lvl="1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https://restsharp.dev/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C865-C019-4B8B-9CF4-52F4E1ED05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Configuring RestSharp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11547-6D8A-4745-9CEE-335CA0E4DD0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Install as a NuGet package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BA53D9FA-E00B-41A6-A135-3AB15EC24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41" y="0"/>
            <a:ext cx="955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8BEE47-423D-41F0-8A63-DF78894C7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527" y="1"/>
            <a:ext cx="2642968" cy="1756290"/>
          </a:xfrm>
        </p:spPr>
        <p:txBody>
          <a:bodyPr>
            <a:normAutofit/>
          </a:bodyPr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Hello, World!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1C92A408-C149-4757-AB8A-230366CF0B5E}"/>
              </a:ext>
            </a:extLst>
          </p:cNvPr>
          <p:cNvSpPr/>
          <p:nvPr/>
        </p:nvSpPr>
        <p:spPr>
          <a:xfrm>
            <a:off x="2613120" y="3771740"/>
            <a:ext cx="1044479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0556E04-95A6-4CE2-9DED-171ACD93EB31}"/>
              </a:ext>
            </a:extLst>
          </p:cNvPr>
          <p:cNvSpPr txBox="1"/>
          <p:nvPr/>
        </p:nvSpPr>
        <p:spPr>
          <a:xfrm>
            <a:off x="3947894" y="3771587"/>
            <a:ext cx="7797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We’re using NUnit here (could also be MSTest, xUnit, …)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B9962167-AA09-4864-80CD-195FFFB132B8}"/>
              </a:ext>
            </a:extLst>
          </p:cNvPr>
          <p:cNvSpPr/>
          <p:nvPr/>
        </p:nvSpPr>
        <p:spPr>
          <a:xfrm>
            <a:off x="2462527" y="1163596"/>
            <a:ext cx="4273553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CE10F718-AC71-496F-B9CC-3C68EF5C6438}"/>
              </a:ext>
            </a:extLst>
          </p:cNvPr>
          <p:cNvSpPr txBox="1"/>
          <p:nvPr/>
        </p:nvSpPr>
        <p:spPr>
          <a:xfrm>
            <a:off x="6736080" y="1393603"/>
            <a:ext cx="4614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a RestClient that performs the HTTP calls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Ovaal 17">
            <a:extLst>
              <a:ext uri="{FF2B5EF4-FFF2-40B4-BE49-F238E27FC236}">
                <a16:creationId xmlns:a16="http://schemas.microsoft.com/office/drawing/2014/main" id="{8237CB3E-30B0-4313-AA62-CC5154DE158D}"/>
              </a:ext>
            </a:extLst>
          </p:cNvPr>
          <p:cNvSpPr/>
          <p:nvPr/>
        </p:nvSpPr>
        <p:spPr>
          <a:xfrm>
            <a:off x="2633440" y="4910864"/>
            <a:ext cx="955856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89B420FA-11F0-4755-8FDD-E9341DB7CCBB}"/>
              </a:ext>
            </a:extLst>
          </p:cNvPr>
          <p:cNvSpPr txBox="1"/>
          <p:nvPr/>
        </p:nvSpPr>
        <p:spPr>
          <a:xfrm>
            <a:off x="-19148" y="4140919"/>
            <a:ext cx="2642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a request using an endpoint and the HTTP method to be used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9B9301A9-B0CC-4659-8F60-7F41C6ABFA32}"/>
              </a:ext>
            </a:extLst>
          </p:cNvPr>
          <p:cNvSpPr/>
          <p:nvPr/>
        </p:nvSpPr>
        <p:spPr>
          <a:xfrm>
            <a:off x="2613120" y="5483604"/>
            <a:ext cx="955856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C12947F2-8C45-4201-BB3E-EE6B56669D0B}"/>
              </a:ext>
            </a:extLst>
          </p:cNvPr>
          <p:cNvSpPr txBox="1"/>
          <p:nvPr/>
        </p:nvSpPr>
        <p:spPr>
          <a:xfrm>
            <a:off x="-8988" y="5341248"/>
            <a:ext cx="2642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 the HTTP call (async!)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66707A4C-5E01-4362-AB7C-869CC62A0F41}"/>
              </a:ext>
            </a:extLst>
          </p:cNvPr>
          <p:cNvSpPr/>
          <p:nvPr/>
        </p:nvSpPr>
        <p:spPr>
          <a:xfrm>
            <a:off x="2633440" y="6074460"/>
            <a:ext cx="955856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7479C182-3BC1-4E3D-A086-F70C7120A984}"/>
              </a:ext>
            </a:extLst>
          </p:cNvPr>
          <p:cNvSpPr txBox="1"/>
          <p:nvPr/>
        </p:nvSpPr>
        <p:spPr>
          <a:xfrm>
            <a:off x="0" y="6071371"/>
            <a:ext cx="2642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 the response HTTP status code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B2677715-6E2D-477D-82EF-87D469C6BA90}"/>
              </a:ext>
            </a:extLst>
          </p:cNvPr>
          <p:cNvSpPr/>
          <p:nvPr/>
        </p:nvSpPr>
        <p:spPr>
          <a:xfrm>
            <a:off x="3007360" y="2875460"/>
            <a:ext cx="500888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1C616AFE-A43A-4D61-9178-6C8A6D87FF35}"/>
              </a:ext>
            </a:extLst>
          </p:cNvPr>
          <p:cNvSpPr txBox="1"/>
          <p:nvPr/>
        </p:nvSpPr>
        <p:spPr>
          <a:xfrm>
            <a:off x="8180070" y="2389835"/>
            <a:ext cx="3848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 the client with a base URL (and potential other common properties such as headers, etc.)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2" grpId="0" animBg="1"/>
      <p:bldP spid="14" grpId="0"/>
      <p:bldP spid="18" grpId="0" animBg="1"/>
      <p:bldP spid="20" grpId="0"/>
      <p:bldP spid="13" grpId="0" animBg="1"/>
      <p:bldP spid="15" grpId="0"/>
      <p:bldP spid="17" grpId="0" animBg="1"/>
      <p:bldP spid="19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1CDE-5987-4E5A-AC1D-F6322587043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Checking status code as an int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3FE5E99-17E7-4361-8070-784CF314E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27" y="2028905"/>
            <a:ext cx="10691945" cy="3508295"/>
          </a:xfrm>
          <a:prstGeom prst="rect">
            <a:avLst/>
          </a:prstGeom>
        </p:spPr>
      </p:pic>
      <p:sp>
        <p:nvSpPr>
          <p:cNvPr id="9" name="Ovaal 8">
            <a:extLst>
              <a:ext uri="{FF2B5EF4-FFF2-40B4-BE49-F238E27FC236}">
                <a16:creationId xmlns:a16="http://schemas.microsoft.com/office/drawing/2014/main" id="{993CD243-5C8A-4D6B-AB19-4AD3F495F170}"/>
              </a:ext>
            </a:extLst>
          </p:cNvPr>
          <p:cNvSpPr/>
          <p:nvPr/>
        </p:nvSpPr>
        <p:spPr>
          <a:xfrm>
            <a:off x="3017520" y="4719596"/>
            <a:ext cx="142240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ABB4E65B-9100-4309-B392-82A4ED27D6F5}"/>
              </a:ext>
            </a:extLst>
          </p:cNvPr>
          <p:cNvSpPr/>
          <p:nvPr/>
        </p:nvSpPr>
        <p:spPr>
          <a:xfrm>
            <a:off x="8808720" y="4719596"/>
            <a:ext cx="142240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98F1DAB9-1730-4EF9-A338-B449ADB79660}"/>
              </a:ext>
            </a:extLst>
          </p:cNvPr>
          <p:cNvSpPr txBox="1"/>
          <p:nvPr/>
        </p:nvSpPr>
        <p:spPr>
          <a:xfrm>
            <a:off x="1798320" y="5742083"/>
            <a:ext cx="890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can cast the HttpStatusCode enum value to an integer if you prefer to do that / think that this is easier to read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A5909E79-8A75-4A8C-BBA8-7FC39F445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44" y="2035258"/>
            <a:ext cx="11489911" cy="33622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D71CDE-5987-4E5A-AC1D-F6322587043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Checking response content type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993CD243-5C8A-4D6B-AB19-4AD3F495F170}"/>
              </a:ext>
            </a:extLst>
          </p:cNvPr>
          <p:cNvSpPr/>
          <p:nvPr/>
        </p:nvSpPr>
        <p:spPr>
          <a:xfrm>
            <a:off x="2844800" y="4597676"/>
            <a:ext cx="325120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98F1DAB9-1730-4EF9-A338-B449ADB79660}"/>
              </a:ext>
            </a:extLst>
          </p:cNvPr>
          <p:cNvSpPr txBox="1"/>
          <p:nvPr/>
        </p:nvSpPr>
        <p:spPr>
          <a:xfrm>
            <a:off x="1798320" y="5742083"/>
            <a:ext cx="908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ContentType property of the RestResponse object contains the response content type (application/json, application/xml, …)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9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7C154E-B08C-C0AC-0A05-705102A84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7698"/>
            <a:ext cx="10257808" cy="38466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D71CDE-5987-4E5A-AC1D-F632258704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2" y="365129"/>
            <a:ext cx="11353797" cy="1325559"/>
          </a:xfrm>
        </p:spPr>
        <p:txBody>
          <a:bodyPr/>
          <a:lstStyle/>
          <a:p>
            <a:pPr lvl="0"/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Checking recognized header values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993CD243-5C8A-4D6B-AB19-4AD3F495F170}"/>
              </a:ext>
            </a:extLst>
          </p:cNvPr>
          <p:cNvSpPr/>
          <p:nvPr/>
        </p:nvSpPr>
        <p:spPr>
          <a:xfrm>
            <a:off x="151384" y="3908003"/>
            <a:ext cx="7254240" cy="51686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98F1DAB9-1730-4EF9-A338-B449ADB79660}"/>
              </a:ext>
            </a:extLst>
          </p:cNvPr>
          <p:cNvSpPr txBox="1"/>
          <p:nvPr/>
        </p:nvSpPr>
        <p:spPr>
          <a:xfrm>
            <a:off x="8869680" y="3862283"/>
            <a:ext cx="3322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RestResponse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object has fields for several common headers, and they will be populated automatically when a response is received.</a:t>
            </a:r>
            <a:endParaRPr lang="en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15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256CB-DAA5-A42F-C512-3A7A9DFF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BB313C-8BE3-782A-F17F-89665CFB3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228" y="1447697"/>
            <a:ext cx="9660139" cy="3558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29DF18-8FCB-8383-924C-3D8E140FB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2" y="365129"/>
            <a:ext cx="11353797" cy="1325559"/>
          </a:xfrm>
        </p:spPr>
        <p:txBody>
          <a:bodyPr/>
          <a:lstStyle/>
          <a:p>
            <a:pPr lvl="0"/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Checking other header values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ADB57204-BF81-CDE6-F8EA-71AD264C77B5}"/>
              </a:ext>
            </a:extLst>
          </p:cNvPr>
          <p:cNvSpPr/>
          <p:nvPr/>
        </p:nvSpPr>
        <p:spPr>
          <a:xfrm>
            <a:off x="155448" y="3688547"/>
            <a:ext cx="9427462" cy="51686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2A5BDF8-9786-FAE4-717C-2C4CFCEC4C2E}"/>
              </a:ext>
            </a:extLst>
          </p:cNvPr>
          <p:cNvSpPr txBox="1"/>
          <p:nvPr/>
        </p:nvSpPr>
        <p:spPr>
          <a:xfrm>
            <a:off x="9061704" y="4055540"/>
            <a:ext cx="3130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can always retrieve response header values by calling the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GetHeaderValue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method on the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RestResponse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object.</a:t>
            </a:r>
            <a:endParaRPr lang="en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65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9C782567-3E08-4FC5-90F7-81E1BC345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26" y="2188822"/>
            <a:ext cx="11906148" cy="340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D71CDE-5987-4E5A-AC1D-F6322587043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Checking response body values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993CD243-5C8A-4D6B-AB19-4AD3F495F170}"/>
              </a:ext>
            </a:extLst>
          </p:cNvPr>
          <p:cNvSpPr/>
          <p:nvPr/>
        </p:nvSpPr>
        <p:spPr>
          <a:xfrm>
            <a:off x="528320" y="4310047"/>
            <a:ext cx="7533640" cy="522965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98F1DAB9-1730-4EF9-A338-B449ADB79660}"/>
              </a:ext>
            </a:extLst>
          </p:cNvPr>
          <p:cNvSpPr txBox="1"/>
          <p:nvPr/>
        </p:nvSpPr>
        <p:spPr>
          <a:xfrm>
            <a:off x="8778446" y="3709883"/>
            <a:ext cx="3322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First, parse the response Content property (a string) to a JObject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853966A3-3E67-4CE7-B2A6-215D1D96FF6B}"/>
              </a:ext>
            </a:extLst>
          </p:cNvPr>
          <p:cNvSpPr/>
          <p:nvPr/>
        </p:nvSpPr>
        <p:spPr>
          <a:xfrm>
            <a:off x="3779520" y="4927600"/>
            <a:ext cx="2540000" cy="4446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ED4384EF-A944-496C-A793-C5A9FB970441}"/>
              </a:ext>
            </a:extLst>
          </p:cNvPr>
          <p:cNvSpPr txBox="1"/>
          <p:nvPr/>
        </p:nvSpPr>
        <p:spPr>
          <a:xfrm>
            <a:off x="2733246" y="5799231"/>
            <a:ext cx="73251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Then, use SelectToken() to retrieve a specific JSON element value from the JSON structure and convert it to a string to assert on its value 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7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8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54CD07DF-59C6-412C-A87E-0C0C2DB34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7" y="2039774"/>
            <a:ext cx="12009399" cy="33402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D71CDE-5987-4E5A-AC1D-F6322587043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Checking response body values</a:t>
            </a:r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853966A3-3E67-4CE7-B2A6-215D1D96FF6B}"/>
              </a:ext>
            </a:extLst>
          </p:cNvPr>
          <p:cNvSpPr/>
          <p:nvPr/>
        </p:nvSpPr>
        <p:spPr>
          <a:xfrm>
            <a:off x="4907280" y="4734560"/>
            <a:ext cx="2540000" cy="4446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ED4384EF-A944-496C-A793-C5A9FB970441}"/>
              </a:ext>
            </a:extLst>
          </p:cNvPr>
          <p:cNvSpPr txBox="1"/>
          <p:nvPr/>
        </p:nvSpPr>
        <p:spPr>
          <a:xfrm>
            <a:off x="751840" y="5729077"/>
            <a:ext cx="11226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argument to SelectToken is a JSONPath query, so you can select nested elements or even collections of elements, too. See https://www.newtonsoft.com/json/help/html/SelectToken.htm for more details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30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2EA5-048D-4FF3-9E42-663F12039CB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Our API under test</a:t>
            </a: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CBD5-322C-403E-8500-FB1821C2371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(Simulation of) an online banking API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Customer data (GET, POST)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Account data (POST, GET)</a:t>
            </a: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RESTful API</a:t>
            </a: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pic>
        <p:nvPicPr>
          <p:cNvPr id="1026" name="Picture 2" descr="Online Banking Best Practices for Consumers">
            <a:extLst>
              <a:ext uri="{FF2B5EF4-FFF2-40B4-BE49-F238E27FC236}">
                <a16:creationId xmlns:a16="http://schemas.microsoft.com/office/drawing/2014/main" id="{938378A0-C281-61D3-D811-593655A10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064" y="3375025"/>
            <a:ext cx="5241936" cy="348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766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992C-2C6A-4FE9-BDF2-940FD6C613F5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4FE7B-86F3-44D9-B02F-D5F7A42146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2311081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How to use the test suite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Executing your tests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Reviewing test results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Exercises01.cs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Simple checks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Verifying status codes and header values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Verifying JSON response body elements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endParaRPr lang="nl-NL" sz="2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Answers01.cs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Examples01.cs</a:t>
            </a:r>
          </a:p>
          <a:p>
            <a:pPr marL="0" lvl="0" indent="0">
              <a:lnSpc>
                <a:spcPct val="70000"/>
              </a:lnSpc>
              <a:buNone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ECD3-1AF0-4DCE-BE96-047FA718179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Parameters in RESTful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0D27-91A1-4529-B8AC-39B103A2BD2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Path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us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90210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ca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B2A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Query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testcaseOne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testcaseTwo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There is no official standard!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1B47439-0E6E-4733-BA2C-3DFB877B2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7" y="2384125"/>
            <a:ext cx="11360241" cy="1320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D164F3-ED47-4492-87D7-AAF28B005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971364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Using path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701BF-484E-448F-B78F-D01D9DABEC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1230157" cy="4351336"/>
          </a:xfrm>
        </p:spPr>
        <p:txBody>
          <a:bodyPr/>
          <a:lstStyle/>
          <a:p>
            <a:pPr lvl="1">
              <a:buFont typeface="Courier New" pitchFamily="49"/>
              <a:buChar char="_"/>
            </a:pPr>
            <a:r>
              <a:rPr lang="nl-NL" sz="24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Straightforward string interpolation works fine</a:t>
            </a: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Alternatively, you can make the path parameter usage more explicit by using AddUrlSegment()</a:t>
            </a:r>
            <a:endParaRPr lang="nl-NL">
              <a:solidFill>
                <a:srgbClr val="FF00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FDFC26A1-C392-4397-B5E4-5B3F41F8E7EB}"/>
              </a:ext>
            </a:extLst>
          </p:cNvPr>
          <p:cNvSpPr/>
          <p:nvPr/>
        </p:nvSpPr>
        <p:spPr>
          <a:xfrm flipV="1">
            <a:off x="1574800" y="2654697"/>
            <a:ext cx="1280160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8132C249-93F0-42CA-933B-172C327FECF8}"/>
              </a:ext>
            </a:extLst>
          </p:cNvPr>
          <p:cNvSpPr/>
          <p:nvPr/>
        </p:nvSpPr>
        <p:spPr>
          <a:xfrm flipV="1">
            <a:off x="7296322" y="3217101"/>
            <a:ext cx="1620517" cy="4441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F338461-3C7F-458D-80C3-E8983DE25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80" y="4589824"/>
            <a:ext cx="11360240" cy="1761628"/>
          </a:xfrm>
          <a:prstGeom prst="rect">
            <a:avLst/>
          </a:prstGeom>
        </p:spPr>
      </p:pic>
      <p:sp>
        <p:nvSpPr>
          <p:cNvPr id="13" name="Oval 4">
            <a:extLst>
              <a:ext uri="{FF2B5EF4-FFF2-40B4-BE49-F238E27FC236}">
                <a16:creationId xmlns:a16="http://schemas.microsoft.com/office/drawing/2014/main" id="{3174D8AF-4A63-4A11-86D1-5526A721094D}"/>
              </a:ext>
            </a:extLst>
          </p:cNvPr>
          <p:cNvSpPr/>
          <p:nvPr/>
        </p:nvSpPr>
        <p:spPr>
          <a:xfrm flipV="1">
            <a:off x="6764007" y="5387012"/>
            <a:ext cx="1280160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4">
            <a:extLst>
              <a:ext uri="{FF2B5EF4-FFF2-40B4-BE49-F238E27FC236}">
                <a16:creationId xmlns:a16="http://schemas.microsoft.com/office/drawing/2014/main" id="{29168331-77F2-4773-B668-2D359118DE2D}"/>
              </a:ext>
            </a:extLst>
          </p:cNvPr>
          <p:cNvSpPr/>
          <p:nvPr/>
        </p:nvSpPr>
        <p:spPr>
          <a:xfrm flipV="1">
            <a:off x="1727200" y="5908369"/>
            <a:ext cx="4521200" cy="4441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4">
            <a:extLst>
              <a:ext uri="{FF2B5EF4-FFF2-40B4-BE49-F238E27FC236}">
                <a16:creationId xmlns:a16="http://schemas.microsoft.com/office/drawing/2014/main" id="{9AB1C9E9-CC54-4776-845C-3A2DFDFD8B33}"/>
              </a:ext>
            </a:extLst>
          </p:cNvPr>
          <p:cNvSpPr/>
          <p:nvPr/>
        </p:nvSpPr>
        <p:spPr>
          <a:xfrm flipV="1">
            <a:off x="6159365" y="3217101"/>
            <a:ext cx="500743" cy="4441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4">
            <a:extLst>
              <a:ext uri="{FF2B5EF4-FFF2-40B4-BE49-F238E27FC236}">
                <a16:creationId xmlns:a16="http://schemas.microsoft.com/office/drawing/2014/main" id="{DB7CC01D-EBF4-4DB4-BB0D-FD5139E525F0}"/>
              </a:ext>
            </a:extLst>
          </p:cNvPr>
          <p:cNvSpPr/>
          <p:nvPr/>
        </p:nvSpPr>
        <p:spPr>
          <a:xfrm flipV="1">
            <a:off x="1375579" y="4827792"/>
            <a:ext cx="1280160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9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6063107"/>
          </a:xfrm>
        </p:spPr>
        <p:txBody>
          <a:bodyPr>
            <a:normAutofit/>
          </a:bodyPr>
          <a:lstStyle/>
          <a:p>
            <a:pPr algn="ctr"/>
            <a:r>
              <a:rPr lang="nl-NL" sz="72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APIs are all about data</a:t>
            </a:r>
            <a:endParaRPr lang="nl-NL" sz="7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2658" y="455256"/>
            <a:ext cx="97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Exchange data between consumer and provider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1348E-B393-4F88-87B7-0D94D07C05A6}"/>
              </a:ext>
            </a:extLst>
          </p:cNvPr>
          <p:cNvSpPr txBox="1"/>
          <p:nvPr/>
        </p:nvSpPr>
        <p:spPr>
          <a:xfrm>
            <a:off x="1688652" y="4711614"/>
            <a:ext cx="8814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Business logic and calculations often exposed through APIs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49514-5CC5-485D-9571-9AA8B7934841}"/>
              </a:ext>
            </a:extLst>
          </p:cNvPr>
          <p:cNvSpPr txBox="1"/>
          <p:nvPr/>
        </p:nvSpPr>
        <p:spPr>
          <a:xfrm>
            <a:off x="1032725" y="1361557"/>
            <a:ext cx="9707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 to retrieve data from provider, POST to send data to provider, …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5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6063107"/>
          </a:xfrm>
        </p:spPr>
        <p:txBody>
          <a:bodyPr>
            <a:normAutofit/>
          </a:bodyPr>
          <a:lstStyle/>
          <a:p>
            <a:pPr algn="ctr"/>
            <a:r>
              <a:rPr lang="nl-NL" sz="72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Parameterized testing</a:t>
            </a:r>
            <a:endParaRPr lang="nl-NL" sz="7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2658" y="455256"/>
            <a:ext cx="97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 the same test more than once…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1348E-B393-4F88-87B7-0D94D07C05A6}"/>
              </a:ext>
            </a:extLst>
          </p:cNvPr>
          <p:cNvSpPr txBox="1"/>
          <p:nvPr/>
        </p:nvSpPr>
        <p:spPr>
          <a:xfrm>
            <a:off x="1688652" y="4711614"/>
            <a:ext cx="98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More efficient to do this at the API level…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49514-5CC5-485D-9571-9AA8B7934841}"/>
              </a:ext>
            </a:extLst>
          </p:cNvPr>
          <p:cNvSpPr txBox="1"/>
          <p:nvPr/>
        </p:nvSpPr>
        <p:spPr>
          <a:xfrm>
            <a:off x="1032725" y="1361557"/>
            <a:ext cx="9707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… for different combinations of input and expected output values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5AC4C70B-9696-4CFE-B968-47D7EA53937A}"/>
              </a:ext>
            </a:extLst>
          </p:cNvPr>
          <p:cNvSpPr txBox="1"/>
          <p:nvPr/>
        </p:nvSpPr>
        <p:spPr>
          <a:xfrm>
            <a:off x="762265" y="5569923"/>
            <a:ext cx="98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… as compared to doing this at the UI level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2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" y="2267636"/>
            <a:ext cx="12191998" cy="2369662"/>
          </a:xfrm>
        </p:spPr>
        <p:txBody>
          <a:bodyPr>
            <a:noAutofit/>
          </a:bodyPr>
          <a:lstStyle/>
          <a:p>
            <a:pPr algn="ctr"/>
            <a:r>
              <a:rPr lang="nl-NL" sz="72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is more of a test framework feature than a feature of RestSharp!</a:t>
            </a:r>
          </a:p>
        </p:txBody>
      </p:sp>
    </p:spTree>
    <p:extLst>
      <p:ext uri="{BB962C8B-B14F-4D97-AF65-F5344CB8AC3E}">
        <p14:creationId xmlns:p14="http://schemas.microsoft.com/office/powerpoint/2010/main" val="1247398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E6D47697-A957-4ADC-B6FD-E0C9645C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39" y="1652574"/>
            <a:ext cx="11661921" cy="44700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3CF2B-B9E7-4290-A8A3-A82E39527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140" y="0"/>
            <a:ext cx="11658122" cy="856345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‘Feeding’ test data to your test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43E322A0-E6FC-4518-9B79-5C35BBAC0671}"/>
              </a:ext>
            </a:extLst>
          </p:cNvPr>
          <p:cNvSpPr/>
          <p:nvPr/>
        </p:nvSpPr>
        <p:spPr>
          <a:xfrm flipV="1">
            <a:off x="111759" y="1652574"/>
            <a:ext cx="11165841" cy="103596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8D42064-D961-4B5C-908D-8B122F58DF83}"/>
              </a:ext>
            </a:extLst>
          </p:cNvPr>
          <p:cNvSpPr txBox="1"/>
          <p:nvPr/>
        </p:nvSpPr>
        <p:spPr>
          <a:xfrm>
            <a:off x="4899900" y="873274"/>
            <a:ext cx="6907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 test cases using the [TestCase] attribute, and don’t forget to include a clear test name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F21CCCBB-F532-47AB-906C-4B3E468BBB8A}"/>
              </a:ext>
            </a:extLst>
          </p:cNvPr>
          <p:cNvSpPr/>
          <p:nvPr/>
        </p:nvSpPr>
        <p:spPr>
          <a:xfrm flipV="1">
            <a:off x="576820" y="3007571"/>
            <a:ext cx="5053582" cy="46735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6336CB8-190E-45D9-910F-47A929EF42A0}"/>
              </a:ext>
            </a:extLst>
          </p:cNvPr>
          <p:cNvSpPr txBox="1"/>
          <p:nvPr/>
        </p:nvSpPr>
        <p:spPr>
          <a:xfrm>
            <a:off x="5694678" y="3109955"/>
            <a:ext cx="6040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parameters to pass the test data values into the method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E0751175-03B0-40F6-B620-04ACC86EF617}"/>
              </a:ext>
            </a:extLst>
          </p:cNvPr>
          <p:cNvSpPr/>
          <p:nvPr/>
        </p:nvSpPr>
        <p:spPr>
          <a:xfrm flipV="1">
            <a:off x="6992105" y="3701126"/>
            <a:ext cx="1452880" cy="36933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2B08A87D-8A7E-4CC3-B338-4B681769672C}"/>
              </a:ext>
            </a:extLst>
          </p:cNvPr>
          <p:cNvSpPr/>
          <p:nvPr/>
        </p:nvSpPr>
        <p:spPr>
          <a:xfrm flipV="1">
            <a:off x="9499600" y="5470369"/>
            <a:ext cx="2452360" cy="36933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A280C12-2171-4F34-B499-3841BA79E188}"/>
              </a:ext>
            </a:extLst>
          </p:cNvPr>
          <p:cNvSpPr txBox="1"/>
          <p:nvPr/>
        </p:nvSpPr>
        <p:spPr>
          <a:xfrm>
            <a:off x="4531358" y="6209444"/>
            <a:ext cx="7203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parameters in the test method where required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9" grpId="0" animBg="1"/>
      <p:bldP spid="10" grpId="0" animBg="1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D8426097-E6B5-42D6-8DD5-03BD1ACD6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40" y="2257585"/>
            <a:ext cx="11661921" cy="44700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3CF2B-B9E7-4290-A8A3-A82E39527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939" y="29849"/>
            <a:ext cx="11658122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Running the data driven test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9E0260A9-87AF-4EDA-B29C-CFE419F9AD7E}"/>
              </a:ext>
            </a:extLst>
          </p:cNvPr>
          <p:cNvSpPr txBox="1"/>
          <p:nvPr/>
        </p:nvSpPr>
        <p:spPr>
          <a:xfrm>
            <a:off x="513035" y="1163098"/>
            <a:ext cx="5232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test method is run three times, once for each array (‘test case’) in the test data set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44300B8-CD79-49CA-B813-B63CCB896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684" y="1049039"/>
            <a:ext cx="6222328" cy="1682432"/>
          </a:xfrm>
          <a:prstGeom prst="rect">
            <a:avLst/>
          </a:prstGeom>
          <a:ln>
            <a:solidFill>
              <a:srgbClr val="00FF00"/>
            </a:solidFill>
          </a:ln>
        </p:spPr>
      </p:pic>
    </p:spTree>
    <p:extLst>
      <p:ext uri="{BB962C8B-B14F-4D97-AF65-F5344CB8AC3E}">
        <p14:creationId xmlns:p14="http://schemas.microsoft.com/office/powerpoint/2010/main" val="277231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1DEC33-445C-AAA9-9857-66E56B65C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40" y="795287"/>
            <a:ext cx="11224405" cy="16800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3CF2B-B9E7-4290-A8A3-A82E39527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140" y="0"/>
            <a:ext cx="11658122" cy="856345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Alternative: use TestCaseSource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6981993-200D-4750-82BB-A9F3939D4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40" y="3429000"/>
            <a:ext cx="10048726" cy="2910840"/>
          </a:xfrm>
          <a:prstGeom prst="rect">
            <a:avLst/>
          </a:prstGeom>
        </p:spPr>
      </p:pic>
      <p:sp>
        <p:nvSpPr>
          <p:cNvPr id="15" name="Oval 4">
            <a:extLst>
              <a:ext uri="{FF2B5EF4-FFF2-40B4-BE49-F238E27FC236}">
                <a16:creationId xmlns:a16="http://schemas.microsoft.com/office/drawing/2014/main" id="{298A65DC-B1F8-4BA5-B45A-22F6F2BF2BE8}"/>
              </a:ext>
            </a:extLst>
          </p:cNvPr>
          <p:cNvSpPr/>
          <p:nvPr/>
        </p:nvSpPr>
        <p:spPr>
          <a:xfrm flipV="1">
            <a:off x="1127760" y="836025"/>
            <a:ext cx="4023360" cy="41774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7400A6F-DA02-4AC2-9676-BD2065AF26B5}"/>
              </a:ext>
            </a:extLst>
          </p:cNvPr>
          <p:cNvSpPr txBox="1"/>
          <p:nvPr/>
        </p:nvSpPr>
        <p:spPr>
          <a:xfrm>
            <a:off x="5287503" y="715523"/>
            <a:ext cx="6907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the [TestCaseSource] attribute (the test method body is the same as the previous example)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Oval 4">
            <a:extLst>
              <a:ext uri="{FF2B5EF4-FFF2-40B4-BE49-F238E27FC236}">
                <a16:creationId xmlns:a16="http://schemas.microsoft.com/office/drawing/2014/main" id="{C0BC6B17-BA34-4DC1-AE05-014EE5F52A53}"/>
              </a:ext>
            </a:extLst>
          </p:cNvPr>
          <p:cNvSpPr/>
          <p:nvPr/>
        </p:nvSpPr>
        <p:spPr>
          <a:xfrm flipV="1">
            <a:off x="2174240" y="3370454"/>
            <a:ext cx="5939801" cy="41774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81479B36-2C1A-425C-889B-263CA2FF4504}"/>
              </a:ext>
            </a:extLst>
          </p:cNvPr>
          <p:cNvSpPr txBox="1"/>
          <p:nvPr/>
        </p:nvSpPr>
        <p:spPr>
          <a:xfrm>
            <a:off x="1127760" y="2648182"/>
            <a:ext cx="10793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 a static method with the parameter value passed to [TestCaseSource] as its name. The method should return an object of type IEnumerable&lt;TestCase&gt;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Oval 4">
            <a:extLst>
              <a:ext uri="{FF2B5EF4-FFF2-40B4-BE49-F238E27FC236}">
                <a16:creationId xmlns:a16="http://schemas.microsoft.com/office/drawing/2014/main" id="{193E0D2A-879E-4E93-B157-D96951763F9A}"/>
              </a:ext>
            </a:extLst>
          </p:cNvPr>
          <p:cNvSpPr/>
          <p:nvPr/>
        </p:nvSpPr>
        <p:spPr>
          <a:xfrm flipV="1">
            <a:off x="640081" y="4000948"/>
            <a:ext cx="4647422" cy="41774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6B169992-5F26-46A3-BA13-61D54FBBAF80}"/>
              </a:ext>
            </a:extLst>
          </p:cNvPr>
          <p:cNvSpPr txBox="1"/>
          <p:nvPr/>
        </p:nvSpPr>
        <p:spPr>
          <a:xfrm>
            <a:off x="640081" y="6037683"/>
            <a:ext cx="1028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</a:t>
            </a:r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return new TestCaseData instances one by one. Test names can be set using .SetName() – make sure these are unique!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17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Exercises02.cs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Create data driven tests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 the [TestCase] attribute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 the [TestCaseSource] attribute and a private static method yielding new TestCaseData instances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endParaRPr lang="nl-NL" sz="2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Answers02.cs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Examples02.cs</a:t>
            </a:r>
          </a:p>
          <a:p>
            <a:pPr marL="0" lvl="0" indent="0">
              <a:lnSpc>
                <a:spcPct val="70000"/>
              </a:lnSpc>
              <a:buNone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5254143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 and password sent with every request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Base64 encoded (not really secure!)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Ex: username = aladdin and password = opensesame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Authorization: Basic YWxhZGRpbjpvcGVuc2VzYW1l</a:t>
            </a:r>
            <a:endParaRPr lang="nl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Authorization: Basic</a:t>
            </a:r>
            <a:endParaRPr kumimoji="0" lang="nl-NL" sz="44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A8630A86-8290-467A-AE7B-91CEDEBDD3CF}"/>
              </a:ext>
            </a:extLst>
          </p:cNvPr>
          <p:cNvSpPr/>
          <p:nvPr/>
        </p:nvSpPr>
        <p:spPr>
          <a:xfrm flipV="1">
            <a:off x="3952875" y="5079618"/>
            <a:ext cx="1400174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CB1C617-FCCE-49D1-989F-48068A419F9E}"/>
              </a:ext>
            </a:extLst>
          </p:cNvPr>
          <p:cNvSpPr/>
          <p:nvPr/>
        </p:nvSpPr>
        <p:spPr>
          <a:xfrm flipV="1">
            <a:off x="5353048" y="5079618"/>
            <a:ext cx="55626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66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Resource (URI) and parameters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 with limited validity is obtained first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 is then sent with all subsequent requests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 common mechanism is OAuth(2)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JWT is a common token format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Authorization: Bearer RsT5OjbzRn430zqMLgV3Ia</a:t>
            </a:r>
            <a:endParaRPr lang="nl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Authorization: Bearer</a:t>
            </a:r>
            <a:endParaRPr kumimoji="0" lang="nl-NL" sz="44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A8630A86-8290-467A-AE7B-91CEDEBDD3CF}"/>
              </a:ext>
            </a:extLst>
          </p:cNvPr>
          <p:cNvSpPr/>
          <p:nvPr/>
        </p:nvSpPr>
        <p:spPr>
          <a:xfrm flipV="1">
            <a:off x="3952873" y="6112688"/>
            <a:ext cx="16383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CB1C617-FCCE-49D1-989F-48068A419F9E}"/>
              </a:ext>
            </a:extLst>
          </p:cNvPr>
          <p:cNvSpPr/>
          <p:nvPr/>
        </p:nvSpPr>
        <p:spPr>
          <a:xfrm flipV="1">
            <a:off x="5445423" y="6112688"/>
            <a:ext cx="55626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98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8611-28F4-4AB8-85C1-A8929B703A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Authentication in RestSharp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148E23E4-B24F-973D-3637-328D4CC44C02}"/>
              </a:ext>
            </a:extLst>
          </p:cNvPr>
          <p:cNvSpPr txBox="1"/>
          <p:nvPr/>
        </p:nvSpPr>
        <p:spPr>
          <a:xfrm>
            <a:off x="838196" y="1658492"/>
            <a:ext cx="885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up basic authentication when creating the RestClient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64D5C51D-5529-8B66-90BE-C5F134674F3B}"/>
              </a:ext>
            </a:extLst>
          </p:cNvPr>
          <p:cNvSpPr txBox="1"/>
          <p:nvPr/>
        </p:nvSpPr>
        <p:spPr>
          <a:xfrm>
            <a:off x="838196" y="4020822"/>
            <a:ext cx="1060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up OAuth2 (token-based) authentication when creating the RestClient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4272563-5FE2-7AF3-1365-9811C0957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7" y="2079917"/>
            <a:ext cx="7581900" cy="1533525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0747AB6-D649-4FBD-C38D-E8F0EFD4B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6" y="4466083"/>
            <a:ext cx="10163175" cy="146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Exercises03.cs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 authentication mechanisms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Create RestClient objects with authentication options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Get a token using basic auth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Extract token from response and store it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Reuse token in OAuth2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endParaRPr lang="nl-NL" sz="2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Answers03.cs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Examples03.cs</a:t>
            </a:r>
          </a:p>
          <a:p>
            <a:pPr marL="0" lvl="0" indent="0">
              <a:lnSpc>
                <a:spcPct val="70000"/>
              </a:lnSpc>
              <a:buNone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866195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8611-28F4-4AB8-85C1-A8929B703A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(De-)serialization of POCOs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A852-6104-45E5-A676-5FE22EF09FC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RestSharp is able to convert C# object instances directly to JSON (and XML) and back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Useful when dealing with test data objects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Creating request body payloads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Processing response body payloads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254859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5FE6-0550-43A2-9B4C-13A78AA17AF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C4EF-5EB3-44EE-9D4D-2A83A2C2872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825627"/>
            <a:ext cx="11282677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POCO representing a Post object (think blog posts)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06F6F35-D9AD-42E1-9A04-84DC23545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" y="2469193"/>
            <a:ext cx="6084586" cy="4023678"/>
          </a:xfrm>
          <a:prstGeom prst="rect">
            <a:avLst/>
          </a:prstGeom>
        </p:spPr>
      </p:pic>
      <p:sp>
        <p:nvSpPr>
          <p:cNvPr id="7" name="Oval 4">
            <a:extLst>
              <a:ext uri="{FF2B5EF4-FFF2-40B4-BE49-F238E27FC236}">
                <a16:creationId xmlns:a16="http://schemas.microsoft.com/office/drawing/2014/main" id="{2BFFFA6F-611C-44B5-9B53-6A1F54280929}"/>
              </a:ext>
            </a:extLst>
          </p:cNvPr>
          <p:cNvSpPr/>
          <p:nvPr/>
        </p:nvSpPr>
        <p:spPr>
          <a:xfrm flipV="1">
            <a:off x="1076960" y="3162665"/>
            <a:ext cx="4246880" cy="41774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7BE90DF-84E8-4D45-ABCF-D08F193E510A}"/>
              </a:ext>
            </a:extLst>
          </p:cNvPr>
          <p:cNvSpPr txBox="1"/>
          <p:nvPr/>
        </p:nvSpPr>
        <p:spPr>
          <a:xfrm>
            <a:off x="6867539" y="2934074"/>
            <a:ext cx="51314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RestSharp respects the [JsonProperty] attribute from Newtonsoft.Json, so you can use these to map C# property names to their JSON element equivalents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34A02747-8552-4016-B905-0BDC60BE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52" y="949959"/>
            <a:ext cx="9666288" cy="5556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165156-DD4C-4A0F-B83E-8AA26921E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3751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serialization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9B56CDF5-FCB2-441F-B48C-53544D850245}"/>
              </a:ext>
            </a:extLst>
          </p:cNvPr>
          <p:cNvSpPr/>
          <p:nvPr/>
        </p:nvSpPr>
        <p:spPr>
          <a:xfrm flipV="1">
            <a:off x="609600" y="2048298"/>
            <a:ext cx="326136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F62F386-DB03-4721-ACBE-9915FDB168E0}"/>
              </a:ext>
            </a:extLst>
          </p:cNvPr>
          <p:cNvSpPr txBox="1"/>
          <p:nvPr/>
        </p:nvSpPr>
        <p:spPr>
          <a:xfrm>
            <a:off x="4068128" y="1936881"/>
            <a:ext cx="5350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a new object in your test and assign the desired property values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FA172B20-A4F2-459A-98F0-FBAF074DF92C}"/>
              </a:ext>
            </a:extLst>
          </p:cNvPr>
          <p:cNvSpPr/>
          <p:nvPr/>
        </p:nvSpPr>
        <p:spPr>
          <a:xfrm flipV="1">
            <a:off x="1696720" y="4649256"/>
            <a:ext cx="274320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10E424F6-3306-40DE-B14F-E6C518E555A0}"/>
              </a:ext>
            </a:extLst>
          </p:cNvPr>
          <p:cNvSpPr txBox="1"/>
          <p:nvPr/>
        </p:nvSpPr>
        <p:spPr>
          <a:xfrm>
            <a:off x="4693920" y="4537841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that object as the request payload using AddJsonBody() and RestSharp handles the rest for you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Oval 4">
            <a:extLst>
              <a:ext uri="{FF2B5EF4-FFF2-40B4-BE49-F238E27FC236}">
                <a16:creationId xmlns:a16="http://schemas.microsoft.com/office/drawing/2014/main" id="{692F77F8-D72E-4A53-9C94-A593A84047EB}"/>
              </a:ext>
            </a:extLst>
          </p:cNvPr>
          <p:cNvSpPr/>
          <p:nvPr/>
        </p:nvSpPr>
        <p:spPr>
          <a:xfrm flipV="1">
            <a:off x="6421120" y="5800966"/>
            <a:ext cx="359664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9B8BEDAF-EAA9-46DA-A89B-2FAA320E48D1}"/>
              </a:ext>
            </a:extLst>
          </p:cNvPr>
          <p:cNvSpPr txBox="1"/>
          <p:nvPr/>
        </p:nvSpPr>
        <p:spPr>
          <a:xfrm>
            <a:off x="331152" y="6409927"/>
            <a:ext cx="1126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 201 (Created) is a typical HTTP status code for a successful POST operation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255C105C-DBAF-4A77-B4A7-C3365CB8895E}"/>
              </a:ext>
            </a:extLst>
          </p:cNvPr>
          <p:cNvSpPr txBox="1"/>
          <p:nvPr/>
        </p:nvSpPr>
        <p:spPr>
          <a:xfrm>
            <a:off x="7278688" y="2619216"/>
            <a:ext cx="4913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“userId”: 1,</a:t>
            </a:r>
          </a:p>
          <a:p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“title”: “My new post title”,</a:t>
            </a:r>
          </a:p>
          <a:p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“body”: “This is the body…”</a:t>
            </a:r>
          </a:p>
          <a:p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2" grpId="0" animBg="1"/>
      <p:bldP spid="13" grpId="0"/>
      <p:bldP spid="14" grpId="0" animBg="1"/>
      <p:bldP spid="15" grpId="0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DF5E31E-EB99-4CCB-8B7C-C9F79CA2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63" y="1690688"/>
            <a:ext cx="11461277" cy="40114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7E199-D381-4902-BF17-321E866ED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19774"/>
            <a:ext cx="10515600" cy="790736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deserialization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8F69138E-4C6C-4723-A76A-DEA668963EBA}"/>
              </a:ext>
            </a:extLst>
          </p:cNvPr>
          <p:cNvSpPr/>
          <p:nvPr/>
        </p:nvSpPr>
        <p:spPr>
          <a:xfrm flipV="1">
            <a:off x="838202" y="4307770"/>
            <a:ext cx="4221477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9DF27B5-A277-4885-927F-31B5B318237A}"/>
              </a:ext>
            </a:extLst>
          </p:cNvPr>
          <p:cNvSpPr txBox="1"/>
          <p:nvPr/>
        </p:nvSpPr>
        <p:spPr>
          <a:xfrm>
            <a:off x="5255677" y="4276806"/>
            <a:ext cx="5946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extracts the deserialized response body into its own object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97AA3BEC-FE89-450B-8090-5056FA950F6E}"/>
              </a:ext>
            </a:extLst>
          </p:cNvPr>
          <p:cNvSpPr/>
          <p:nvPr/>
        </p:nvSpPr>
        <p:spPr>
          <a:xfrm flipV="1">
            <a:off x="9062720" y="3608975"/>
            <a:ext cx="134112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03B7633-B0FC-411A-8878-7491B8121E5E}"/>
              </a:ext>
            </a:extLst>
          </p:cNvPr>
          <p:cNvSpPr txBox="1"/>
          <p:nvPr/>
        </p:nvSpPr>
        <p:spPr>
          <a:xfrm>
            <a:off x="2656134" y="1229023"/>
            <a:ext cx="8545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tells RestSharp to try and deserialize the response body to an object of type User (which is another POCO like Post from the previous example)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63591BAF-76CF-4DF1-9F88-83E1F895D94F}"/>
              </a:ext>
            </a:extLst>
          </p:cNvPr>
          <p:cNvSpPr/>
          <p:nvPr/>
        </p:nvSpPr>
        <p:spPr>
          <a:xfrm flipV="1">
            <a:off x="2656134" y="4967408"/>
            <a:ext cx="1712666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62F0795-070C-4EB0-BBCF-02855DC79040}"/>
              </a:ext>
            </a:extLst>
          </p:cNvPr>
          <p:cNvSpPr txBox="1"/>
          <p:nvPr/>
        </p:nvSpPr>
        <p:spPr>
          <a:xfrm>
            <a:off x="838202" y="5853034"/>
            <a:ext cx="7482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can now refer to specific properties of the POCO like you would do with any other regular C# object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Oval 4">
            <a:extLst>
              <a:ext uri="{FF2B5EF4-FFF2-40B4-BE49-F238E27FC236}">
                <a16:creationId xmlns:a16="http://schemas.microsoft.com/office/drawing/2014/main" id="{3D79FFD0-E079-4500-AF7C-BA7947F35CC9}"/>
              </a:ext>
            </a:extLst>
          </p:cNvPr>
          <p:cNvSpPr/>
          <p:nvPr/>
        </p:nvSpPr>
        <p:spPr>
          <a:xfrm flipV="1">
            <a:off x="838203" y="3628248"/>
            <a:ext cx="3103877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Exercises04.cs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Practice serialization by sending an Account object</a:t>
            </a: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Practice deserialization by extracting an API response into a C# object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endParaRPr lang="nl-NL" sz="2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Answers04.cs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Examples04.cs</a:t>
            </a:r>
          </a:p>
          <a:p>
            <a:pPr marL="0" lvl="0" indent="0">
              <a:lnSpc>
                <a:spcPct val="70000"/>
              </a:lnSpc>
              <a:buNone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33775719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" y="0"/>
            <a:ext cx="12191998" cy="6858000"/>
          </a:xfrm>
        </p:spPr>
        <p:txBody>
          <a:bodyPr>
            <a:noAutofit/>
          </a:bodyPr>
          <a:lstStyle/>
          <a:p>
            <a:pPr algn="ctr"/>
            <a:r>
              <a:rPr lang="nl-NL" sz="65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challenge with ‘traditional’ REST APIs</a:t>
            </a:r>
            <a:endParaRPr lang="nl-NL" sz="65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297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57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nl-NL" sz="60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GraphQL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88668" y="782816"/>
            <a:ext cx="9482095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Query language for APIs…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9186" y="1849617"/>
            <a:ext cx="11624442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as well as a runtime to fulfill them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04354" y="4199713"/>
            <a:ext cx="10444898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“Ask for what you need,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and get exactly that”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086225" y="5866589"/>
            <a:ext cx="7588704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https://graphql.org</a:t>
            </a:r>
          </a:p>
        </p:txBody>
      </p:sp>
    </p:spTree>
    <p:extLst>
      <p:ext uri="{BB962C8B-B14F-4D97-AF65-F5344CB8AC3E}">
        <p14:creationId xmlns:p14="http://schemas.microsoft.com/office/powerpoint/2010/main" val="154024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19B76B41-CC8F-4AB2-AA6B-522F63101910}"/>
              </a:ext>
            </a:extLst>
          </p:cNvPr>
          <p:cNvSpPr/>
          <p:nvPr/>
        </p:nvSpPr>
        <p:spPr>
          <a:xfrm>
            <a:off x="1219949" y="654659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GraphQL API consumer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8420849" y="654659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GraphQL API provider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Pijl: rechts 6">
            <a:extLst>
              <a:ext uri="{FF2B5EF4-FFF2-40B4-BE49-F238E27FC236}">
                <a16:creationId xmlns:a16="http://schemas.microsoft.com/office/drawing/2014/main" id="{61E5B8DE-27F1-444C-B282-6DBE3C392313}"/>
              </a:ext>
            </a:extLst>
          </p:cNvPr>
          <p:cNvSpPr/>
          <p:nvPr/>
        </p:nvSpPr>
        <p:spPr>
          <a:xfrm>
            <a:off x="4201274" y="1159483"/>
            <a:ext cx="3838575" cy="333375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Pijl: rechts 7">
            <a:extLst>
              <a:ext uri="{FF2B5EF4-FFF2-40B4-BE49-F238E27FC236}">
                <a16:creationId xmlns:a16="http://schemas.microsoft.com/office/drawing/2014/main" id="{9C68E7DA-15F8-408B-B438-18A5C4EAD20B}"/>
              </a:ext>
            </a:extLst>
          </p:cNvPr>
          <p:cNvSpPr/>
          <p:nvPr/>
        </p:nvSpPr>
        <p:spPr>
          <a:xfrm rot="10800000">
            <a:off x="4186986" y="2159611"/>
            <a:ext cx="3838575" cy="333375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69963B92-FFB0-45F5-972C-72AAB5C4ED2E}"/>
              </a:ext>
            </a:extLst>
          </p:cNvPr>
          <p:cNvSpPr txBox="1"/>
          <p:nvPr/>
        </p:nvSpPr>
        <p:spPr>
          <a:xfrm>
            <a:off x="4340090" y="582541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(query)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BD73EEA-8D89-4B72-984D-EDDFFE2AD3A3}"/>
              </a:ext>
            </a:extLst>
          </p:cNvPr>
          <p:cNvSpPr txBox="1"/>
          <p:nvPr/>
        </p:nvSpPr>
        <p:spPr>
          <a:xfrm>
            <a:off x="4364651" y="2492986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(JSON)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02D3961F-1DC0-44CA-B053-7353E24A421C}"/>
              </a:ext>
            </a:extLst>
          </p:cNvPr>
          <p:cNvSpPr/>
          <p:nvPr/>
        </p:nvSpPr>
        <p:spPr>
          <a:xfrm>
            <a:off x="1219949" y="3860192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1F5ABE9D-1358-4D6A-92CE-3833E4EECE7F}"/>
              </a:ext>
            </a:extLst>
          </p:cNvPr>
          <p:cNvSpPr/>
          <p:nvPr/>
        </p:nvSpPr>
        <p:spPr>
          <a:xfrm>
            <a:off x="8420849" y="3860192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Pijl: rechts 12">
            <a:extLst>
              <a:ext uri="{FF2B5EF4-FFF2-40B4-BE49-F238E27FC236}">
                <a16:creationId xmlns:a16="http://schemas.microsoft.com/office/drawing/2014/main" id="{440413C3-A94B-49BF-997C-01B4F418D68D}"/>
              </a:ext>
            </a:extLst>
          </p:cNvPr>
          <p:cNvSpPr/>
          <p:nvPr/>
        </p:nvSpPr>
        <p:spPr>
          <a:xfrm rot="5400000">
            <a:off x="1892936" y="3264611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Pijl: rechts 13">
            <a:extLst>
              <a:ext uri="{FF2B5EF4-FFF2-40B4-BE49-F238E27FC236}">
                <a16:creationId xmlns:a16="http://schemas.microsoft.com/office/drawing/2014/main" id="{29F7FCED-4923-4C47-8D0D-E164AF00FD6C}"/>
              </a:ext>
            </a:extLst>
          </p:cNvPr>
          <p:cNvSpPr/>
          <p:nvPr/>
        </p:nvSpPr>
        <p:spPr>
          <a:xfrm rot="16200000">
            <a:off x="2651511" y="3264610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jl: rechts 14">
            <a:extLst>
              <a:ext uri="{FF2B5EF4-FFF2-40B4-BE49-F238E27FC236}">
                <a16:creationId xmlns:a16="http://schemas.microsoft.com/office/drawing/2014/main" id="{C201604D-A15E-4914-A093-ED3BB4E62DE3}"/>
              </a:ext>
            </a:extLst>
          </p:cNvPr>
          <p:cNvSpPr/>
          <p:nvPr/>
        </p:nvSpPr>
        <p:spPr>
          <a:xfrm rot="5400000">
            <a:off x="9031764" y="3264612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jl: rechts 15">
            <a:extLst>
              <a:ext uri="{FF2B5EF4-FFF2-40B4-BE49-F238E27FC236}">
                <a16:creationId xmlns:a16="http://schemas.microsoft.com/office/drawing/2014/main" id="{A49E548C-4572-40DB-8AD0-FFAAAF4B8DA6}"/>
              </a:ext>
            </a:extLst>
          </p:cNvPr>
          <p:cNvSpPr/>
          <p:nvPr/>
        </p:nvSpPr>
        <p:spPr>
          <a:xfrm rot="16200000">
            <a:off x="9790339" y="3264611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84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57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nl-NL" sz="60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Sending a GraphQL query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88668" y="782816"/>
            <a:ext cx="9482095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Create a valid GraphQL query…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9186" y="1849617"/>
            <a:ext cx="11624442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and send it in the request body (</a:t>
            </a:r>
            <a:r>
              <a:rPr kumimoji="0" lang="nl-NL" sz="3600" b="0" i="1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query</a:t>
            </a: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04354" y="4199713"/>
            <a:ext cx="10444898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“Ask for what you need,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and get exactly that”</a:t>
            </a:r>
          </a:p>
        </p:txBody>
      </p:sp>
    </p:spTree>
    <p:extLst>
      <p:ext uri="{BB962C8B-B14F-4D97-AF65-F5344CB8AC3E}">
        <p14:creationId xmlns:p14="http://schemas.microsoft.com/office/powerpoint/2010/main" val="146425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57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nl-NL" sz="60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GraphQL API responses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4776" y="782816"/>
            <a:ext cx="12020550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These are ‘regular’ REST responses, with…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24050" y="1849617"/>
            <a:ext cx="9889578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an HTTP status code, …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04354" y="4199713"/>
            <a:ext cx="10444898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response headers…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809875" y="5267325"/>
            <a:ext cx="8865054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and a JSON response body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containing the requested data</a:t>
            </a:r>
          </a:p>
        </p:txBody>
      </p:sp>
    </p:spTree>
    <p:extLst>
      <p:ext uri="{BB962C8B-B14F-4D97-AF65-F5344CB8AC3E}">
        <p14:creationId xmlns:p14="http://schemas.microsoft.com/office/powerpoint/2010/main" val="169844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7A9C1AF9-0B9C-4E1C-8047-BC4ABC952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75" y="796924"/>
            <a:ext cx="4924425" cy="2733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A0D34C-9F52-4680-B1B9-8D6E50749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0515600" cy="84328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Sending a basic GraphQL query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0391BC6A-4C83-482A-A4B8-192AA8F33D53}"/>
              </a:ext>
            </a:extLst>
          </p:cNvPr>
          <p:cNvSpPr/>
          <p:nvPr/>
        </p:nvSpPr>
        <p:spPr>
          <a:xfrm flipV="1">
            <a:off x="92395" y="735964"/>
            <a:ext cx="1685605" cy="36933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406BBA2-ACE4-4C8E-A690-B5B0D128C5D2}"/>
              </a:ext>
            </a:extLst>
          </p:cNvPr>
          <p:cNvSpPr txBox="1"/>
          <p:nvPr/>
        </p:nvSpPr>
        <p:spPr>
          <a:xfrm>
            <a:off x="2286000" y="796925"/>
            <a:ext cx="624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query can be a simple (multiline) string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2755865-7931-473E-837A-FFDE09A0E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75" y="3684070"/>
            <a:ext cx="4552950" cy="2057400"/>
          </a:xfrm>
          <a:prstGeom prst="rect">
            <a:avLst/>
          </a:prstGeom>
        </p:spPr>
      </p:pic>
      <p:sp>
        <p:nvSpPr>
          <p:cNvPr id="22" name="Oval 4">
            <a:extLst>
              <a:ext uri="{FF2B5EF4-FFF2-40B4-BE49-F238E27FC236}">
                <a16:creationId xmlns:a16="http://schemas.microsoft.com/office/drawing/2014/main" id="{3F6A146E-E46A-4F5E-8237-D0AA054DBBC2}"/>
              </a:ext>
            </a:extLst>
          </p:cNvPr>
          <p:cNvSpPr/>
          <p:nvPr/>
        </p:nvSpPr>
        <p:spPr>
          <a:xfrm flipV="1">
            <a:off x="1443197" y="3622039"/>
            <a:ext cx="1685605" cy="36933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5E577430-0C43-48F6-BFFE-306C3F002FE7}"/>
              </a:ext>
            </a:extLst>
          </p:cNvPr>
          <p:cNvSpPr txBox="1"/>
          <p:nvPr/>
        </p:nvSpPr>
        <p:spPr>
          <a:xfrm>
            <a:off x="173675" y="5803500"/>
            <a:ext cx="2955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Using this POCO simplifies creating the GraphQL payload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EC7B40F-F2D9-4EA1-9F5C-83A1B4C38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460" y="2349013"/>
            <a:ext cx="6826724" cy="4361518"/>
          </a:xfrm>
          <a:prstGeom prst="rect">
            <a:avLst/>
          </a:prstGeom>
        </p:spPr>
      </p:pic>
      <p:sp>
        <p:nvSpPr>
          <p:cNvPr id="24" name="Oval 4">
            <a:extLst>
              <a:ext uri="{FF2B5EF4-FFF2-40B4-BE49-F238E27FC236}">
                <a16:creationId xmlns:a16="http://schemas.microsoft.com/office/drawing/2014/main" id="{221F51E9-3644-4789-BAD2-B3856BA7AD04}"/>
              </a:ext>
            </a:extLst>
          </p:cNvPr>
          <p:cNvSpPr/>
          <p:nvPr/>
        </p:nvSpPr>
        <p:spPr>
          <a:xfrm flipV="1">
            <a:off x="6122751" y="2322977"/>
            <a:ext cx="3986449" cy="34901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4">
            <a:extLst>
              <a:ext uri="{FF2B5EF4-FFF2-40B4-BE49-F238E27FC236}">
                <a16:creationId xmlns:a16="http://schemas.microsoft.com/office/drawing/2014/main" id="{2BB248B0-8695-40B6-A4C2-E12306A67B44}"/>
              </a:ext>
            </a:extLst>
          </p:cNvPr>
          <p:cNvSpPr/>
          <p:nvPr/>
        </p:nvSpPr>
        <p:spPr>
          <a:xfrm flipV="1">
            <a:off x="5598160" y="4072560"/>
            <a:ext cx="3322320" cy="34901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092CD976-DF4E-4D68-B047-FF14E8AB12AA}"/>
              </a:ext>
            </a:extLst>
          </p:cNvPr>
          <p:cNvSpPr txBox="1"/>
          <p:nvPr/>
        </p:nvSpPr>
        <p:spPr>
          <a:xfrm>
            <a:off x="5751276" y="1460435"/>
            <a:ext cx="5770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We’ve seen how to serialize and send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the payload in the previous section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7" name="Oval 4">
            <a:extLst>
              <a:ext uri="{FF2B5EF4-FFF2-40B4-BE49-F238E27FC236}">
                <a16:creationId xmlns:a16="http://schemas.microsoft.com/office/drawing/2014/main" id="{983DF988-1901-4CA8-88C0-391A1C9F99D5}"/>
              </a:ext>
            </a:extLst>
          </p:cNvPr>
          <p:cNvSpPr/>
          <p:nvPr/>
        </p:nvSpPr>
        <p:spPr>
          <a:xfrm flipV="1">
            <a:off x="6122751" y="5852623"/>
            <a:ext cx="5895574" cy="34901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EB2D762B-B46A-46BC-8D4E-C075864DA58C}"/>
              </a:ext>
            </a:extLst>
          </p:cNvPr>
          <p:cNvSpPr txBox="1"/>
          <p:nvPr/>
        </p:nvSpPr>
        <p:spPr>
          <a:xfrm>
            <a:off x="6754657" y="6367235"/>
            <a:ext cx="577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 GraphQL API response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is plain JSON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5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B06C1AA-50F3-4F92-9BFD-5DEB518FD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12" y="723900"/>
            <a:ext cx="4752975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A0D34C-9F52-4680-B1B9-8D6E50749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0515600" cy="84328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Parameterizing GraphQL queries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0391BC6A-4C83-482A-A4B8-192AA8F33D53}"/>
              </a:ext>
            </a:extLst>
          </p:cNvPr>
          <p:cNvSpPr/>
          <p:nvPr/>
        </p:nvSpPr>
        <p:spPr>
          <a:xfrm flipV="1">
            <a:off x="3048000" y="889246"/>
            <a:ext cx="1972950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406BBA2-ACE4-4C8E-A690-B5B0D128C5D2}"/>
              </a:ext>
            </a:extLst>
          </p:cNvPr>
          <p:cNvSpPr txBox="1"/>
          <p:nvPr/>
        </p:nvSpPr>
        <p:spPr>
          <a:xfrm>
            <a:off x="5181600" y="889248"/>
            <a:ext cx="624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GraphQL queries can be parameterized, too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9" name="Oval 4">
            <a:extLst>
              <a:ext uri="{FF2B5EF4-FFF2-40B4-BE49-F238E27FC236}">
                <a16:creationId xmlns:a16="http://schemas.microsoft.com/office/drawing/2014/main" id="{411F7BDE-0A67-47E9-B7CB-AF1523FE99CC}"/>
              </a:ext>
            </a:extLst>
          </p:cNvPr>
          <p:cNvSpPr/>
          <p:nvPr/>
        </p:nvSpPr>
        <p:spPr>
          <a:xfrm flipV="1">
            <a:off x="2976880" y="1382513"/>
            <a:ext cx="1107440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AA74172-D460-4066-950D-BC6B5B32A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59" y="3819636"/>
            <a:ext cx="6823983" cy="2823341"/>
          </a:xfrm>
          <a:prstGeom prst="rect">
            <a:avLst/>
          </a:prstGeom>
        </p:spPr>
      </p:pic>
      <p:sp>
        <p:nvSpPr>
          <p:cNvPr id="24" name="Oval 4">
            <a:extLst>
              <a:ext uri="{FF2B5EF4-FFF2-40B4-BE49-F238E27FC236}">
                <a16:creationId xmlns:a16="http://schemas.microsoft.com/office/drawing/2014/main" id="{94D4336D-832C-4B56-84A1-80E4464E759E}"/>
              </a:ext>
            </a:extLst>
          </p:cNvPr>
          <p:cNvSpPr/>
          <p:nvPr/>
        </p:nvSpPr>
        <p:spPr>
          <a:xfrm flipV="1">
            <a:off x="567049" y="3695699"/>
            <a:ext cx="3221180" cy="1307563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4">
            <a:extLst>
              <a:ext uri="{FF2B5EF4-FFF2-40B4-BE49-F238E27FC236}">
                <a16:creationId xmlns:a16="http://schemas.microsoft.com/office/drawing/2014/main" id="{D12AF9B4-0CC9-43F1-90C1-DA112DA696D5}"/>
              </a:ext>
            </a:extLst>
          </p:cNvPr>
          <p:cNvSpPr/>
          <p:nvPr/>
        </p:nvSpPr>
        <p:spPr>
          <a:xfrm flipV="1">
            <a:off x="1137690" y="5916775"/>
            <a:ext cx="6645962" cy="46225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E22D56D-2A36-4DFE-81FC-B410D8D27079}"/>
              </a:ext>
            </a:extLst>
          </p:cNvPr>
          <p:cNvSpPr txBox="1"/>
          <p:nvPr/>
        </p:nvSpPr>
        <p:spPr>
          <a:xfrm>
            <a:off x="6574972" y="4036081"/>
            <a:ext cx="5399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Values for these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variables can be sent to a GraphQL API in JSON format, which we’re doing here by serializing an anonymous type object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3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9" grpId="0" animBg="1"/>
      <p:bldP spid="24" grpId="0" animBg="1"/>
      <p:bldP spid="31" grpId="0" animBg="1"/>
      <p:bldP spid="3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1AD6E948-D27D-445A-9E69-94A48832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416" y="-1"/>
            <a:ext cx="87485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A0D34C-9F52-4680-B1B9-8D6E50749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3282766" cy="2468880"/>
          </a:xfrm>
        </p:spPr>
        <p:txBody>
          <a:bodyPr>
            <a:normAutofit fontScale="90000"/>
          </a:bodyPr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 data driven GraphQL test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0391BC6A-4C83-482A-A4B8-192AA8F33D53}"/>
              </a:ext>
            </a:extLst>
          </p:cNvPr>
          <p:cNvSpPr/>
          <p:nvPr/>
        </p:nvSpPr>
        <p:spPr>
          <a:xfrm flipV="1">
            <a:off x="3282766" y="-1"/>
            <a:ext cx="1370514" cy="78232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406BBA2-ACE4-4C8E-A690-B5B0D128C5D2}"/>
              </a:ext>
            </a:extLst>
          </p:cNvPr>
          <p:cNvSpPr txBox="1"/>
          <p:nvPr/>
        </p:nvSpPr>
        <p:spPr>
          <a:xfrm>
            <a:off x="436880" y="2941568"/>
            <a:ext cx="27239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As we’ve done with ‘regular’ REST APIs,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we can use this to create a data driven GraphQL test.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 example checks the weather in Amsterdam, Berlin and Rome.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Oval 4">
            <a:extLst>
              <a:ext uri="{FF2B5EF4-FFF2-40B4-BE49-F238E27FC236}">
                <a16:creationId xmlns:a16="http://schemas.microsoft.com/office/drawing/2014/main" id="{44CAB2E6-A5B4-4153-9865-4E926A7B8BD2}"/>
              </a:ext>
            </a:extLst>
          </p:cNvPr>
          <p:cNvSpPr/>
          <p:nvPr/>
        </p:nvSpPr>
        <p:spPr>
          <a:xfrm flipV="1">
            <a:off x="3743484" y="1071372"/>
            <a:ext cx="4333716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4">
            <a:extLst>
              <a:ext uri="{FF2B5EF4-FFF2-40B4-BE49-F238E27FC236}">
                <a16:creationId xmlns:a16="http://schemas.microsoft.com/office/drawing/2014/main" id="{6F4C8E8D-89DA-4C7C-B06E-63E84ED52045}"/>
              </a:ext>
            </a:extLst>
          </p:cNvPr>
          <p:cNvSpPr/>
          <p:nvPr/>
        </p:nvSpPr>
        <p:spPr>
          <a:xfrm flipV="1">
            <a:off x="4791918" y="5053060"/>
            <a:ext cx="948482" cy="36933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39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Exercises05.cs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Work with the SpaceX GraphQL API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Create and send a fixed (static) GraphQL query and assert on the response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Create a parameterized GraphQL query and use that in a data driven GraphQL API test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endParaRPr lang="nl-NL" sz="2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Answers05.cs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Examples05.cs</a:t>
            </a:r>
          </a:p>
          <a:p>
            <a:pPr marL="0" lvl="0" indent="0">
              <a:lnSpc>
                <a:spcPct val="70000"/>
              </a:lnSpc>
              <a:buNone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2729947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68036-DA7E-4D10-B37C-1B11EE7AE4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904875"/>
            <a:ext cx="10515600" cy="6572250"/>
          </a:xfrm>
        </p:spPr>
        <p:txBody>
          <a:bodyPr anchor="ctr">
            <a:normAutofit fontScale="85000" lnSpcReduction="20000"/>
          </a:bodyPr>
          <a:lstStyle/>
          <a:p>
            <a:pPr marL="0" lvl="0" indent="0" algn="ctr">
              <a:buNone/>
            </a:pPr>
            <a:r>
              <a:rPr lang="nl-NL" sz="62300" b="1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?</a:t>
            </a:r>
            <a:endParaRPr lang="nl-NL" sz="2400" b="1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BAFA-C47D-4CCB-A515-A7187FB0D2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721" y="334649"/>
            <a:ext cx="10515600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4DCF3-A2F3-4EBF-8EF5-1B64E732C7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0721" y="1825627"/>
            <a:ext cx="11308078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Email:    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bas@ontestautomation.com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Website:  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https://www.ontestautomation.com/training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70C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LinkedIn: 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https://www.linkedin.com/in/basdijkstra</a:t>
            </a: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26968</TotalTime>
  <Words>2330</Words>
  <Application>Microsoft Office PowerPoint</Application>
  <PresentationFormat>Widescreen</PresentationFormat>
  <Paragraphs>508</Paragraphs>
  <Slides>63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Calibri</vt:lpstr>
      <vt:lpstr>Calibri Light</vt:lpstr>
      <vt:lpstr>Courier New</vt:lpstr>
      <vt:lpstr>Office Theme</vt:lpstr>
      <vt:lpstr>2_Office Theme</vt:lpstr>
      <vt:lpstr>3_Office Theme</vt:lpstr>
      <vt:lpstr>4_Office Theme</vt:lpstr>
      <vt:lpstr>5_Office Theme</vt:lpstr>
      <vt:lpstr>API testing in C# with RestSharp</vt:lpstr>
      <vt:lpstr>What are we going to do?</vt:lpstr>
      <vt:lpstr>Preparation</vt:lpstr>
      <vt:lpstr>(RESTful) APIs are commonly used to exchange data between two parties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example</vt:lpstr>
      <vt:lpstr>Where are APIs used?</vt:lpstr>
      <vt:lpstr>Where are APIs used?</vt:lpstr>
      <vt:lpstr>Why I ♥ testing at the API level</vt:lpstr>
      <vt:lpstr>Tools for testing RESTful APIs</vt:lpstr>
      <vt:lpstr>RestSharp</vt:lpstr>
      <vt:lpstr>Configuring RestSharp</vt:lpstr>
      <vt:lpstr>Hello, World!</vt:lpstr>
      <vt:lpstr>Checking status code as an int</vt:lpstr>
      <vt:lpstr>Checking response content type</vt:lpstr>
      <vt:lpstr>Checking recognized header values</vt:lpstr>
      <vt:lpstr>Checking other header values</vt:lpstr>
      <vt:lpstr>Checking response body values</vt:lpstr>
      <vt:lpstr>Checking response body values</vt:lpstr>
      <vt:lpstr>Our API under test</vt:lpstr>
      <vt:lpstr>Demo</vt:lpstr>
      <vt:lpstr>Now it’s your turn!</vt:lpstr>
      <vt:lpstr>Parameters in RESTful APIs</vt:lpstr>
      <vt:lpstr>Using path parameters</vt:lpstr>
      <vt:lpstr>APIs are all about data</vt:lpstr>
      <vt:lpstr>Parameterized testing</vt:lpstr>
      <vt:lpstr>This is more of a test framework feature than a feature of RestSharp!</vt:lpstr>
      <vt:lpstr>‘Feeding’ test data to your test</vt:lpstr>
      <vt:lpstr>Running the data driven test</vt:lpstr>
      <vt:lpstr>Alternative: use TestCaseSource</vt:lpstr>
      <vt:lpstr>Now it’s your turn!</vt:lpstr>
      <vt:lpstr>PowerPoint Presentation</vt:lpstr>
      <vt:lpstr>PowerPoint Presentation</vt:lpstr>
      <vt:lpstr>Authentication in RestSharp</vt:lpstr>
      <vt:lpstr>Now it’s your turn!</vt:lpstr>
      <vt:lpstr>(De-)serialization of POCOs</vt:lpstr>
      <vt:lpstr>Example: serialization</vt:lpstr>
      <vt:lpstr>Example: serialization</vt:lpstr>
      <vt:lpstr>Example: deserialization</vt:lpstr>
      <vt:lpstr>Now it’s your turn!</vt:lpstr>
      <vt:lpstr>A challenge with ‘traditional’ REST APIs</vt:lpstr>
      <vt:lpstr>GraphQL</vt:lpstr>
      <vt:lpstr>PowerPoint Presentation</vt:lpstr>
      <vt:lpstr>Sending a GraphQL query</vt:lpstr>
      <vt:lpstr>GraphQL API responses</vt:lpstr>
      <vt:lpstr>Sending a basic GraphQL query</vt:lpstr>
      <vt:lpstr>Parameterizing GraphQL queries</vt:lpstr>
      <vt:lpstr>A data driven GraphQL test</vt:lpstr>
      <vt:lpstr>Now it’s your turn!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 REST</dc:title>
  <dc:creator>Bas Dijkstra</dc:creator>
  <cp:lastModifiedBy>Bas Dijkstra</cp:lastModifiedBy>
  <cp:revision>252</cp:revision>
  <dcterms:created xsi:type="dcterms:W3CDTF">2016-03-22T05:00:13Z</dcterms:created>
  <dcterms:modified xsi:type="dcterms:W3CDTF">2026-02-13T18:50:38Z</dcterms:modified>
</cp:coreProperties>
</file>